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2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828" y="3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F5EFEF"/>
                </a:solidFill>
                <a:latin typeface="Segoe UI Symbol"/>
                <a:cs typeface="Segoe UI 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F5EFEF"/>
                </a:solidFill>
                <a:latin typeface="Segoe UI Symbol"/>
                <a:cs typeface="Segoe UI 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9151A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8176" y="7751063"/>
            <a:ext cx="1725168" cy="41148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719304" y="7574279"/>
            <a:ext cx="1835150" cy="655320"/>
          </a:xfrm>
          <a:custGeom>
            <a:avLst/>
            <a:gdLst/>
            <a:ahLst/>
            <a:cxnLst/>
            <a:rect l="l" t="t" r="r" b="b"/>
            <a:pathLst>
              <a:path w="1835150" h="655320">
                <a:moveTo>
                  <a:pt x="1834896" y="0"/>
                </a:moveTo>
                <a:lnTo>
                  <a:pt x="0" y="0"/>
                </a:lnTo>
                <a:lnTo>
                  <a:pt x="0" y="655319"/>
                </a:lnTo>
                <a:lnTo>
                  <a:pt x="1834896" y="655319"/>
                </a:lnTo>
                <a:lnTo>
                  <a:pt x="1834896" y="0"/>
                </a:lnTo>
                <a:close/>
              </a:path>
            </a:pathLst>
          </a:custGeom>
          <a:solidFill>
            <a:srgbClr val="0915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F5EFEF"/>
                </a:solidFill>
                <a:latin typeface="Segoe UI Symbol"/>
                <a:cs typeface="Segoe UI 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F5EFEF"/>
                </a:solidFill>
                <a:latin typeface="Segoe UI Symbol"/>
                <a:cs typeface="Segoe UI 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9151A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8175" y="7751062"/>
            <a:ext cx="1725168" cy="4114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33652" y="596595"/>
            <a:ext cx="11085830" cy="611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F5EFEF"/>
                </a:solidFill>
                <a:latin typeface="Segoe UI Symbol"/>
                <a:cs typeface="Segoe UI 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1520" y="1892808"/>
            <a:ext cx="13167360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oitures-autonomes.fr/" TargetMode="External"/><Relationship Id="rId2" Type="http://schemas.openxmlformats.org/officeDocument/2006/relationships/hyperlink" Target="https://techcrunch.com/mobilit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ired.com/tag/self-driving-cars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utonews.com/" TargetMode="External"/><Relationship Id="rId2" Type="http://schemas.openxmlformats.org/officeDocument/2006/relationships/hyperlink" Target="https://alerts.google.com/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g"/><Relationship Id="rId4" Type="http://schemas.openxmlformats.org/officeDocument/2006/relationships/hyperlink" Target="https://www.technologyreview.com/topic/artificial-intelligence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user/TeslaMotors" TargetMode="External"/><Relationship Id="rId2" Type="http://schemas.openxmlformats.org/officeDocument/2006/relationships/hyperlink" Target="https://www.youtube.com/c/Waym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5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1408" y="2767660"/>
            <a:ext cx="7397750" cy="76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50" spc="409" dirty="0"/>
              <a:t>Les</a:t>
            </a:r>
            <a:r>
              <a:rPr sz="4850" spc="-160" dirty="0"/>
              <a:t> </a:t>
            </a:r>
            <a:r>
              <a:rPr sz="4850" spc="290" dirty="0"/>
              <a:t>Voitures</a:t>
            </a:r>
            <a:r>
              <a:rPr sz="4850" spc="-155" dirty="0"/>
              <a:t> </a:t>
            </a:r>
            <a:r>
              <a:rPr sz="4850" spc="275" dirty="0"/>
              <a:t>Autonomes</a:t>
            </a:r>
            <a:endParaRPr sz="4850"/>
          </a:p>
        </p:txBody>
      </p:sp>
      <p:sp>
        <p:nvSpPr>
          <p:cNvPr id="4" name="object 4"/>
          <p:cNvSpPr txBox="1"/>
          <p:nvPr/>
        </p:nvSpPr>
        <p:spPr>
          <a:xfrm>
            <a:off x="851408" y="3894408"/>
            <a:ext cx="6816090" cy="81153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900" spc="105" dirty="0">
                <a:solidFill>
                  <a:srgbClr val="E1E6E9"/>
                </a:solidFill>
                <a:latin typeface="Segoe UI Symbol"/>
                <a:cs typeface="Segoe UI Symbol"/>
              </a:rPr>
              <a:t>Veille</a:t>
            </a:r>
            <a:r>
              <a:rPr sz="1900" spc="-1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900" spc="90" dirty="0">
                <a:solidFill>
                  <a:srgbClr val="E1E6E9"/>
                </a:solidFill>
                <a:latin typeface="Segoe UI Symbol"/>
                <a:cs typeface="Segoe UI Symbol"/>
              </a:rPr>
              <a:t>technologique</a:t>
            </a:r>
            <a:r>
              <a:rPr sz="1900" spc="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900" spc="585" dirty="0">
                <a:solidFill>
                  <a:srgbClr val="E1E6E9"/>
                </a:solidFill>
                <a:latin typeface="Segoe UI Symbol"/>
                <a:cs typeface="Segoe UI Symbol"/>
              </a:rPr>
              <a:t>–</a:t>
            </a:r>
            <a:r>
              <a:rPr sz="1900" spc="-6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900" spc="120" dirty="0">
                <a:solidFill>
                  <a:srgbClr val="E1E6E9"/>
                </a:solidFill>
                <a:latin typeface="Segoe UI Symbol"/>
                <a:cs typeface="Segoe UI Symbol"/>
              </a:rPr>
              <a:t>Comprendre,</a:t>
            </a:r>
            <a:r>
              <a:rPr sz="1900" spc="-4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900" spc="135" dirty="0">
                <a:solidFill>
                  <a:srgbClr val="E1E6E9"/>
                </a:solidFill>
                <a:latin typeface="Segoe UI Symbol"/>
                <a:cs typeface="Segoe UI Symbol"/>
              </a:rPr>
              <a:t>suivre</a:t>
            </a:r>
            <a:r>
              <a:rPr sz="1900" spc="-4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900" spc="80" dirty="0">
                <a:solidFill>
                  <a:srgbClr val="E1E6E9"/>
                </a:solidFill>
                <a:latin typeface="Segoe UI Symbol"/>
                <a:cs typeface="Segoe UI Symbol"/>
              </a:rPr>
              <a:t>et</a:t>
            </a:r>
            <a:r>
              <a:rPr sz="1900" spc="-3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900" spc="120" dirty="0">
                <a:solidFill>
                  <a:srgbClr val="E1E6E9"/>
                </a:solidFill>
                <a:latin typeface="Segoe UI Symbol"/>
                <a:cs typeface="Segoe UI Symbol"/>
              </a:rPr>
              <a:t>anticiper</a:t>
            </a:r>
            <a:r>
              <a:rPr sz="1900" spc="-3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900" spc="100" dirty="0">
                <a:solidFill>
                  <a:srgbClr val="E1E6E9"/>
                </a:solidFill>
                <a:latin typeface="Segoe UI Symbol"/>
                <a:cs typeface="Segoe UI Symbol"/>
              </a:rPr>
              <a:t>la</a:t>
            </a:r>
            <a:endParaRPr sz="19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1900" spc="120" dirty="0">
                <a:solidFill>
                  <a:srgbClr val="E1E6E9"/>
                </a:solidFill>
                <a:latin typeface="Segoe UI Symbol"/>
                <a:cs typeface="Segoe UI Symbol"/>
              </a:rPr>
              <a:t>révolution</a:t>
            </a:r>
            <a:r>
              <a:rPr sz="1900" dirty="0">
                <a:solidFill>
                  <a:srgbClr val="E1E6E9"/>
                </a:solidFill>
                <a:latin typeface="Segoe UI Symbol"/>
                <a:cs typeface="Segoe UI Symbol"/>
              </a:rPr>
              <a:t> de</a:t>
            </a:r>
            <a:r>
              <a:rPr sz="1900" spc="-4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900" spc="125" dirty="0">
                <a:solidFill>
                  <a:srgbClr val="E1E6E9"/>
                </a:solidFill>
                <a:latin typeface="Segoe UI Symbol"/>
                <a:cs typeface="Segoe UI Symbol"/>
              </a:rPr>
              <a:t>la</a:t>
            </a:r>
            <a:r>
              <a:rPr sz="1900" spc="-2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900" spc="114" dirty="0">
                <a:solidFill>
                  <a:srgbClr val="E1E6E9"/>
                </a:solidFill>
                <a:latin typeface="Segoe UI Symbol"/>
                <a:cs typeface="Segoe UI Symbol"/>
              </a:rPr>
              <a:t>mobilité</a:t>
            </a:r>
            <a:r>
              <a:rPr sz="1900" spc="-1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900" spc="95" dirty="0">
                <a:solidFill>
                  <a:srgbClr val="E1E6E9"/>
                </a:solidFill>
                <a:latin typeface="Segoe UI Symbol"/>
                <a:cs typeface="Segoe UI Symbol"/>
              </a:rPr>
              <a:t>autonome</a:t>
            </a:r>
            <a:endParaRPr sz="19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36"/>
          <p:cNvSpPr/>
          <p:nvPr/>
        </p:nvSpPr>
        <p:spPr>
          <a:xfrm>
            <a:off x="3970" y="20251"/>
            <a:ext cx="14554200" cy="8189097"/>
          </a:xfrm>
          <a:custGeom>
            <a:avLst/>
            <a:gdLst/>
            <a:ahLst/>
            <a:cxnLst/>
            <a:rect l="l" t="t" r="r" b="b"/>
            <a:pathLst>
              <a:path w="2078990" h="920750">
                <a:moveTo>
                  <a:pt x="2078735" y="0"/>
                </a:moveTo>
                <a:lnTo>
                  <a:pt x="0" y="0"/>
                </a:lnTo>
                <a:lnTo>
                  <a:pt x="0" y="920496"/>
                </a:lnTo>
                <a:lnTo>
                  <a:pt x="2078735" y="920496"/>
                </a:lnTo>
                <a:lnTo>
                  <a:pt x="2078735" y="0"/>
                </a:lnTo>
                <a:close/>
              </a:path>
            </a:pathLst>
          </a:custGeom>
          <a:solidFill>
            <a:srgbClr val="162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784859" y="595883"/>
            <a:ext cx="1100455" cy="384175"/>
          </a:xfrm>
          <a:custGeom>
            <a:avLst/>
            <a:gdLst/>
            <a:ahLst/>
            <a:cxnLst/>
            <a:rect l="l" t="t" r="r" b="b"/>
            <a:pathLst>
              <a:path w="1100455" h="384175">
                <a:moveTo>
                  <a:pt x="0" y="69723"/>
                </a:moveTo>
                <a:lnTo>
                  <a:pt x="5476" y="42594"/>
                </a:lnTo>
                <a:lnTo>
                  <a:pt x="20412" y="20431"/>
                </a:lnTo>
                <a:lnTo>
                  <a:pt x="42562" y="5482"/>
                </a:lnTo>
                <a:lnTo>
                  <a:pt x="69684" y="0"/>
                </a:lnTo>
                <a:lnTo>
                  <a:pt x="1030604" y="0"/>
                </a:lnTo>
                <a:lnTo>
                  <a:pt x="1057733" y="5482"/>
                </a:lnTo>
                <a:lnTo>
                  <a:pt x="1079896" y="20431"/>
                </a:lnTo>
                <a:lnTo>
                  <a:pt x="1094845" y="42594"/>
                </a:lnTo>
                <a:lnTo>
                  <a:pt x="1100328" y="69723"/>
                </a:lnTo>
                <a:lnTo>
                  <a:pt x="1100328" y="314325"/>
                </a:lnTo>
                <a:lnTo>
                  <a:pt x="1094845" y="341453"/>
                </a:lnTo>
                <a:lnTo>
                  <a:pt x="1079896" y="363616"/>
                </a:lnTo>
                <a:lnTo>
                  <a:pt x="1057733" y="378565"/>
                </a:lnTo>
                <a:lnTo>
                  <a:pt x="1030604" y="384048"/>
                </a:lnTo>
                <a:lnTo>
                  <a:pt x="69684" y="384048"/>
                </a:lnTo>
                <a:lnTo>
                  <a:pt x="42562" y="378565"/>
                </a:lnTo>
                <a:lnTo>
                  <a:pt x="20412" y="363616"/>
                </a:lnTo>
                <a:lnTo>
                  <a:pt x="5476" y="341453"/>
                </a:lnTo>
                <a:lnTo>
                  <a:pt x="0" y="314325"/>
                </a:lnTo>
                <a:lnTo>
                  <a:pt x="0" y="69723"/>
                </a:lnTo>
                <a:close/>
              </a:path>
            </a:pathLst>
          </a:custGeom>
          <a:ln w="9144">
            <a:solidFill>
              <a:srgbClr val="5F9D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88820" y="595883"/>
            <a:ext cx="445134" cy="384175"/>
          </a:xfrm>
          <a:custGeom>
            <a:avLst/>
            <a:gdLst/>
            <a:ahLst/>
            <a:cxnLst/>
            <a:rect l="l" t="t" r="r" b="b"/>
            <a:pathLst>
              <a:path w="445135" h="384175">
                <a:moveTo>
                  <a:pt x="0" y="69723"/>
                </a:moveTo>
                <a:lnTo>
                  <a:pt x="5482" y="42594"/>
                </a:lnTo>
                <a:lnTo>
                  <a:pt x="20431" y="20431"/>
                </a:lnTo>
                <a:lnTo>
                  <a:pt x="42594" y="5482"/>
                </a:lnTo>
                <a:lnTo>
                  <a:pt x="69723" y="0"/>
                </a:lnTo>
                <a:lnTo>
                  <a:pt x="375285" y="0"/>
                </a:lnTo>
                <a:lnTo>
                  <a:pt x="402413" y="5482"/>
                </a:lnTo>
                <a:lnTo>
                  <a:pt x="424576" y="20431"/>
                </a:lnTo>
                <a:lnTo>
                  <a:pt x="439525" y="42594"/>
                </a:lnTo>
                <a:lnTo>
                  <a:pt x="445007" y="69723"/>
                </a:lnTo>
                <a:lnTo>
                  <a:pt x="445007" y="314325"/>
                </a:lnTo>
                <a:lnTo>
                  <a:pt x="439525" y="341453"/>
                </a:lnTo>
                <a:lnTo>
                  <a:pt x="424576" y="363616"/>
                </a:lnTo>
                <a:lnTo>
                  <a:pt x="402413" y="378565"/>
                </a:lnTo>
                <a:lnTo>
                  <a:pt x="375285" y="384048"/>
                </a:lnTo>
                <a:lnTo>
                  <a:pt x="69723" y="384048"/>
                </a:lnTo>
                <a:lnTo>
                  <a:pt x="42594" y="378565"/>
                </a:lnTo>
                <a:lnTo>
                  <a:pt x="20431" y="363616"/>
                </a:lnTo>
                <a:lnTo>
                  <a:pt x="5482" y="341453"/>
                </a:lnTo>
                <a:lnTo>
                  <a:pt x="0" y="314325"/>
                </a:lnTo>
                <a:lnTo>
                  <a:pt x="0" y="69723"/>
                </a:lnTo>
                <a:close/>
              </a:path>
            </a:pathLst>
          </a:custGeom>
          <a:ln w="9144">
            <a:solidFill>
              <a:srgbClr val="5F9D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37460" y="595883"/>
            <a:ext cx="585470" cy="384175"/>
          </a:xfrm>
          <a:custGeom>
            <a:avLst/>
            <a:gdLst/>
            <a:ahLst/>
            <a:cxnLst/>
            <a:rect l="l" t="t" r="r" b="b"/>
            <a:pathLst>
              <a:path w="585469" h="384175">
                <a:moveTo>
                  <a:pt x="0" y="69723"/>
                </a:moveTo>
                <a:lnTo>
                  <a:pt x="5482" y="42594"/>
                </a:lnTo>
                <a:lnTo>
                  <a:pt x="20431" y="20431"/>
                </a:lnTo>
                <a:lnTo>
                  <a:pt x="42594" y="5482"/>
                </a:lnTo>
                <a:lnTo>
                  <a:pt x="69722" y="0"/>
                </a:lnTo>
                <a:lnTo>
                  <a:pt x="515492" y="0"/>
                </a:lnTo>
                <a:lnTo>
                  <a:pt x="542621" y="5482"/>
                </a:lnTo>
                <a:lnTo>
                  <a:pt x="564784" y="20431"/>
                </a:lnTo>
                <a:lnTo>
                  <a:pt x="579733" y="42594"/>
                </a:lnTo>
                <a:lnTo>
                  <a:pt x="585215" y="69723"/>
                </a:lnTo>
                <a:lnTo>
                  <a:pt x="585215" y="314325"/>
                </a:lnTo>
                <a:lnTo>
                  <a:pt x="579733" y="341453"/>
                </a:lnTo>
                <a:lnTo>
                  <a:pt x="564784" y="363616"/>
                </a:lnTo>
                <a:lnTo>
                  <a:pt x="542621" y="378565"/>
                </a:lnTo>
                <a:lnTo>
                  <a:pt x="515492" y="384048"/>
                </a:lnTo>
                <a:lnTo>
                  <a:pt x="69722" y="384048"/>
                </a:lnTo>
                <a:lnTo>
                  <a:pt x="42594" y="378565"/>
                </a:lnTo>
                <a:lnTo>
                  <a:pt x="20431" y="363616"/>
                </a:lnTo>
                <a:lnTo>
                  <a:pt x="5482" y="341453"/>
                </a:lnTo>
                <a:lnTo>
                  <a:pt x="0" y="314325"/>
                </a:lnTo>
                <a:lnTo>
                  <a:pt x="0" y="69723"/>
                </a:lnTo>
                <a:close/>
              </a:path>
            </a:pathLst>
          </a:custGeom>
          <a:ln w="9144">
            <a:solidFill>
              <a:srgbClr val="5F9D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03224" y="666750"/>
            <a:ext cx="20967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16660" algn="l"/>
                <a:tab pos="1765935" algn="l"/>
              </a:tabLst>
            </a:pPr>
            <a:r>
              <a:rPr sz="1300" spc="130" dirty="0">
                <a:solidFill>
                  <a:srgbClr val="5F9DFF"/>
                </a:solidFill>
                <a:latin typeface="Segoe UI Symbol"/>
                <a:cs typeface="Segoe UI Symbol"/>
              </a:rPr>
              <a:t>MOBILITÉ</a:t>
            </a:r>
            <a:r>
              <a:rPr sz="1300" dirty="0">
                <a:solidFill>
                  <a:srgbClr val="5F9DFF"/>
                </a:solidFill>
                <a:latin typeface="Segoe UI Symbol"/>
                <a:cs typeface="Segoe UI Symbol"/>
              </a:rPr>
              <a:t>	</a:t>
            </a:r>
            <a:r>
              <a:rPr sz="1300" spc="90" dirty="0">
                <a:solidFill>
                  <a:srgbClr val="5F9DFF"/>
                </a:solidFill>
                <a:latin typeface="Segoe UI Symbol"/>
                <a:cs typeface="Segoe UI Symbol"/>
              </a:rPr>
              <a:t>IA</a:t>
            </a:r>
            <a:r>
              <a:rPr sz="1300" dirty="0">
                <a:solidFill>
                  <a:srgbClr val="5F9DFF"/>
                </a:solidFill>
                <a:latin typeface="Segoe UI Symbol"/>
                <a:cs typeface="Segoe UI Symbol"/>
              </a:rPr>
              <a:t>	</a:t>
            </a:r>
            <a:r>
              <a:rPr sz="1300" spc="75" dirty="0">
                <a:solidFill>
                  <a:srgbClr val="5F9DFF"/>
                </a:solidFill>
                <a:latin typeface="Segoe UI Symbol"/>
                <a:cs typeface="Segoe UI Symbol"/>
              </a:rPr>
              <a:t>SAE</a:t>
            </a:r>
            <a:endParaRPr sz="130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70940" y="1007109"/>
            <a:ext cx="9551670" cy="643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50" spc="315" dirty="0"/>
              <a:t>Qu'est-</a:t>
            </a:r>
            <a:r>
              <a:rPr sz="4050" spc="135" dirty="0"/>
              <a:t>ce</a:t>
            </a:r>
            <a:r>
              <a:rPr sz="4050" spc="-165" dirty="0"/>
              <a:t> </a:t>
            </a:r>
            <a:r>
              <a:rPr sz="4050" spc="260" dirty="0"/>
              <a:t>qu'une</a:t>
            </a:r>
            <a:r>
              <a:rPr sz="4050" spc="-175" dirty="0"/>
              <a:t> </a:t>
            </a:r>
            <a:r>
              <a:rPr sz="4050" spc="240" dirty="0"/>
              <a:t>Voiture</a:t>
            </a:r>
            <a:r>
              <a:rPr sz="4050" spc="-150" dirty="0"/>
              <a:t> </a:t>
            </a:r>
            <a:r>
              <a:rPr sz="4050" spc="235" dirty="0"/>
              <a:t>Autonome</a:t>
            </a:r>
            <a:r>
              <a:rPr sz="4050" spc="-175" dirty="0"/>
              <a:t> </a:t>
            </a:r>
            <a:r>
              <a:rPr sz="4050" spc="95" dirty="0"/>
              <a:t>?</a:t>
            </a:r>
            <a:endParaRPr sz="4050"/>
          </a:p>
        </p:txBody>
      </p:sp>
      <p:sp>
        <p:nvSpPr>
          <p:cNvPr id="7" name="object 7"/>
          <p:cNvSpPr txBox="1"/>
          <p:nvPr/>
        </p:nvSpPr>
        <p:spPr>
          <a:xfrm>
            <a:off x="770940" y="1917026"/>
            <a:ext cx="12229465" cy="6350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600" spc="125" dirty="0">
                <a:solidFill>
                  <a:srgbClr val="E1E6E9"/>
                </a:solidFill>
                <a:latin typeface="Segoe UI Symbol"/>
                <a:cs typeface="Segoe UI Symbol"/>
              </a:rPr>
              <a:t>Un</a:t>
            </a:r>
            <a:r>
              <a:rPr sz="160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95" dirty="0">
                <a:solidFill>
                  <a:srgbClr val="E1E6E9"/>
                </a:solidFill>
                <a:latin typeface="Segoe UI Symbol"/>
                <a:cs typeface="Segoe UI Symbol"/>
              </a:rPr>
              <a:t>véhicule</a:t>
            </a:r>
            <a:r>
              <a:rPr sz="1600" spc="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95" dirty="0">
                <a:solidFill>
                  <a:srgbClr val="E1E6E9"/>
                </a:solidFill>
                <a:latin typeface="Segoe UI Symbol"/>
                <a:cs typeface="Segoe UI Symbol"/>
              </a:rPr>
              <a:t>autonome</a:t>
            </a:r>
            <a:r>
              <a:rPr sz="1600" spc="-6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85" dirty="0">
                <a:solidFill>
                  <a:srgbClr val="E1E6E9"/>
                </a:solidFill>
                <a:latin typeface="Segoe UI Symbol"/>
                <a:cs typeface="Segoe UI Symbol"/>
              </a:rPr>
              <a:t>est</a:t>
            </a:r>
            <a:r>
              <a:rPr sz="1600" spc="-3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75" dirty="0">
                <a:solidFill>
                  <a:srgbClr val="E1E6E9"/>
                </a:solidFill>
                <a:latin typeface="Segoe UI Symbol"/>
                <a:cs typeface="Segoe UI Symbol"/>
              </a:rPr>
              <a:t>capable</a:t>
            </a:r>
            <a:r>
              <a:rPr sz="160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dirty="0">
                <a:solidFill>
                  <a:srgbClr val="E1E6E9"/>
                </a:solidFill>
                <a:latin typeface="Segoe UI Symbol"/>
                <a:cs typeface="Segoe UI Symbol"/>
              </a:rPr>
              <a:t>de</a:t>
            </a:r>
            <a:r>
              <a:rPr sz="1600" spc="-4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b="1" spc="45" dirty="0">
                <a:solidFill>
                  <a:srgbClr val="E1E6E9"/>
                </a:solidFill>
                <a:latin typeface="Cambria"/>
                <a:cs typeface="Cambria"/>
              </a:rPr>
              <a:t>percevoir</a:t>
            </a:r>
            <a:r>
              <a:rPr sz="1600" b="1" spc="-3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600" b="1" spc="105" dirty="0">
                <a:solidFill>
                  <a:srgbClr val="E1E6E9"/>
                </a:solidFill>
                <a:latin typeface="Cambria"/>
                <a:cs typeface="Cambria"/>
              </a:rPr>
              <a:t>son</a:t>
            </a:r>
            <a:r>
              <a:rPr sz="1600" b="1" spc="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600" b="1" spc="80" dirty="0">
                <a:solidFill>
                  <a:srgbClr val="E1E6E9"/>
                </a:solidFill>
                <a:latin typeface="Cambria"/>
                <a:cs typeface="Cambria"/>
              </a:rPr>
              <a:t>environnement</a:t>
            </a:r>
            <a:r>
              <a:rPr sz="1600" b="1" spc="-1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600" spc="65" dirty="0">
                <a:solidFill>
                  <a:srgbClr val="E1E6E9"/>
                </a:solidFill>
                <a:latin typeface="Segoe UI Symbol"/>
                <a:cs typeface="Segoe UI Symbol"/>
              </a:rPr>
              <a:t>et</a:t>
            </a:r>
            <a:r>
              <a:rPr sz="1600" spc="-4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dirty="0">
                <a:solidFill>
                  <a:srgbClr val="E1E6E9"/>
                </a:solidFill>
                <a:latin typeface="Segoe UI Symbol"/>
                <a:cs typeface="Segoe UI Symbol"/>
              </a:rPr>
              <a:t>de</a:t>
            </a:r>
            <a:r>
              <a:rPr sz="1600" spc="-6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105" dirty="0">
                <a:solidFill>
                  <a:srgbClr val="E1E6E9"/>
                </a:solidFill>
                <a:latin typeface="Segoe UI Symbol"/>
                <a:cs typeface="Segoe UI Symbol"/>
              </a:rPr>
              <a:t>naviguer</a:t>
            </a:r>
            <a:r>
              <a:rPr sz="1600" spc="-3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125" dirty="0">
                <a:solidFill>
                  <a:srgbClr val="E1E6E9"/>
                </a:solidFill>
                <a:latin typeface="Segoe UI Symbol"/>
                <a:cs typeface="Segoe UI Symbol"/>
              </a:rPr>
              <a:t>sans</a:t>
            </a:r>
            <a:r>
              <a:rPr sz="1600" spc="-5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110" dirty="0">
                <a:solidFill>
                  <a:srgbClr val="E1E6E9"/>
                </a:solidFill>
                <a:latin typeface="Segoe UI Symbol"/>
                <a:cs typeface="Segoe UI Symbol"/>
              </a:rPr>
              <a:t>intervention</a:t>
            </a:r>
            <a:r>
              <a:rPr sz="1600" spc="1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130" dirty="0">
                <a:solidFill>
                  <a:srgbClr val="E1E6E9"/>
                </a:solidFill>
                <a:latin typeface="Segoe UI Symbol"/>
                <a:cs typeface="Segoe UI Symbol"/>
              </a:rPr>
              <a:t>humaine,</a:t>
            </a:r>
            <a:r>
              <a:rPr sz="160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80" dirty="0">
                <a:solidFill>
                  <a:srgbClr val="E1E6E9"/>
                </a:solidFill>
                <a:latin typeface="Segoe UI Symbol"/>
                <a:cs typeface="Segoe UI Symbol"/>
              </a:rPr>
              <a:t>grâce</a:t>
            </a:r>
            <a:r>
              <a:rPr sz="1600" spc="-4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85" dirty="0">
                <a:solidFill>
                  <a:srgbClr val="E1E6E9"/>
                </a:solidFill>
                <a:latin typeface="Segoe UI Symbol"/>
                <a:cs typeface="Segoe UI Symbol"/>
              </a:rPr>
              <a:t>à</a:t>
            </a:r>
            <a:r>
              <a:rPr sz="1600" spc="-4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65" dirty="0">
                <a:solidFill>
                  <a:srgbClr val="E1E6E9"/>
                </a:solidFill>
                <a:latin typeface="Segoe UI Symbol"/>
                <a:cs typeface="Segoe UI Symbol"/>
              </a:rPr>
              <a:t>une</a:t>
            </a:r>
            <a:endParaRPr sz="16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spc="110" dirty="0">
                <a:solidFill>
                  <a:srgbClr val="E1E6E9"/>
                </a:solidFill>
                <a:latin typeface="Segoe UI Symbol"/>
                <a:cs typeface="Segoe UI Symbol"/>
              </a:rPr>
              <a:t>combinaison</a:t>
            </a:r>
            <a:r>
              <a:rPr sz="1600" spc="-6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dirty="0">
                <a:solidFill>
                  <a:srgbClr val="E1E6E9"/>
                </a:solidFill>
                <a:latin typeface="Segoe UI Symbol"/>
                <a:cs typeface="Segoe UI Symbol"/>
              </a:rPr>
              <a:t>de</a:t>
            </a:r>
            <a:r>
              <a:rPr sz="1600" spc="-6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105" dirty="0">
                <a:solidFill>
                  <a:srgbClr val="E1E6E9"/>
                </a:solidFill>
                <a:latin typeface="Segoe UI Symbol"/>
                <a:cs typeface="Segoe UI Symbol"/>
              </a:rPr>
              <a:t>capteurs,</a:t>
            </a:r>
            <a:r>
              <a:rPr sz="1600" spc="-3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100" dirty="0">
                <a:solidFill>
                  <a:srgbClr val="E1E6E9"/>
                </a:solidFill>
                <a:latin typeface="Segoe UI Symbol"/>
                <a:cs typeface="Segoe UI Symbol"/>
              </a:rPr>
              <a:t>d'intelligence</a:t>
            </a:r>
            <a:r>
              <a:rPr sz="1600" spc="1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110" dirty="0">
                <a:solidFill>
                  <a:srgbClr val="E1E6E9"/>
                </a:solidFill>
                <a:latin typeface="Segoe UI Symbol"/>
                <a:cs typeface="Segoe UI Symbol"/>
              </a:rPr>
              <a:t>artificielle</a:t>
            </a:r>
            <a:r>
              <a:rPr sz="1600" spc="-1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65" dirty="0">
                <a:solidFill>
                  <a:srgbClr val="E1E6E9"/>
                </a:solidFill>
                <a:latin typeface="Segoe UI Symbol"/>
                <a:cs typeface="Segoe UI Symbol"/>
              </a:rPr>
              <a:t>et</a:t>
            </a:r>
            <a:r>
              <a:rPr sz="1600" spc="-1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dirty="0">
                <a:solidFill>
                  <a:srgbClr val="E1E6E9"/>
                </a:solidFill>
                <a:latin typeface="Segoe UI Symbol"/>
                <a:cs typeface="Segoe UI Symbol"/>
              </a:rPr>
              <a:t>de</a:t>
            </a:r>
            <a:r>
              <a:rPr sz="1600" spc="-5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95" dirty="0">
                <a:solidFill>
                  <a:srgbClr val="E1E6E9"/>
                </a:solidFill>
                <a:latin typeface="Segoe UI Symbol"/>
                <a:cs typeface="Segoe UI Symbol"/>
              </a:rPr>
              <a:t>cartographie</a:t>
            </a:r>
            <a:r>
              <a:rPr sz="1600" spc="-9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95" dirty="0">
                <a:solidFill>
                  <a:srgbClr val="E1E6E9"/>
                </a:solidFill>
                <a:latin typeface="Segoe UI Symbol"/>
                <a:cs typeface="Segoe UI Symbol"/>
              </a:rPr>
              <a:t>haute</a:t>
            </a:r>
            <a:r>
              <a:rPr sz="1600" spc="-5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90" dirty="0">
                <a:solidFill>
                  <a:srgbClr val="E1E6E9"/>
                </a:solidFill>
                <a:latin typeface="Segoe UI Symbol"/>
                <a:cs typeface="Segoe UI Symbol"/>
              </a:rPr>
              <a:t>définition.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3336" y="2828544"/>
            <a:ext cx="13063855" cy="15240"/>
          </a:xfrm>
          <a:custGeom>
            <a:avLst/>
            <a:gdLst/>
            <a:ahLst/>
            <a:cxnLst/>
            <a:rect l="l" t="t" r="r" b="b"/>
            <a:pathLst>
              <a:path w="13063855" h="15239">
                <a:moveTo>
                  <a:pt x="13063728" y="0"/>
                </a:moveTo>
                <a:lnTo>
                  <a:pt x="0" y="0"/>
                </a:lnTo>
                <a:lnTo>
                  <a:pt x="0" y="15239"/>
                </a:lnTo>
                <a:lnTo>
                  <a:pt x="13063728" y="15239"/>
                </a:lnTo>
                <a:lnTo>
                  <a:pt x="13063728" y="0"/>
                </a:lnTo>
                <a:close/>
              </a:path>
            </a:pathLst>
          </a:custGeom>
          <a:solidFill>
            <a:srgbClr val="E1E6E9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70940" y="3251073"/>
            <a:ext cx="4406265" cy="4202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110" dirty="0">
                <a:solidFill>
                  <a:srgbClr val="F5EFEF"/>
                </a:solidFill>
                <a:latin typeface="Segoe UI Symbol"/>
                <a:cs typeface="Segoe UI Symbol"/>
              </a:rPr>
              <a:t>Technologies</a:t>
            </a:r>
            <a:r>
              <a:rPr sz="2000" spc="20" dirty="0">
                <a:solidFill>
                  <a:srgbClr val="F5EFEF"/>
                </a:solidFill>
                <a:latin typeface="Segoe UI Symbol"/>
                <a:cs typeface="Segoe UI Symbol"/>
              </a:rPr>
              <a:t> </a:t>
            </a:r>
            <a:r>
              <a:rPr sz="2000" spc="90" dirty="0">
                <a:solidFill>
                  <a:srgbClr val="F5EFEF"/>
                </a:solidFill>
                <a:latin typeface="Segoe UI Symbol"/>
                <a:cs typeface="Segoe UI Symbol"/>
              </a:rPr>
              <a:t>clés</a:t>
            </a:r>
            <a:endParaRPr sz="2000">
              <a:latin typeface="Segoe UI Symbol"/>
              <a:cs typeface="Segoe UI Symbol"/>
            </a:endParaRPr>
          </a:p>
          <a:p>
            <a:pPr marL="356870" indent="-344170">
              <a:lnSpc>
                <a:spcPct val="100000"/>
              </a:lnSpc>
              <a:spcBef>
                <a:spcPts val="1800"/>
              </a:spcBef>
              <a:buChar char="•"/>
              <a:tabLst>
                <a:tab pos="356870" algn="l"/>
              </a:tabLst>
            </a:pPr>
            <a:r>
              <a:rPr sz="1600" spc="85" dirty="0">
                <a:solidFill>
                  <a:srgbClr val="E1E6E9"/>
                </a:solidFill>
                <a:latin typeface="Segoe UI Symbol"/>
                <a:cs typeface="Segoe UI Symbol"/>
              </a:rPr>
              <a:t>Capteurs</a:t>
            </a:r>
            <a:endParaRPr sz="16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600" spc="120" dirty="0">
                <a:solidFill>
                  <a:srgbClr val="E1E6E9"/>
                </a:solidFill>
                <a:latin typeface="Segoe UI Symbol"/>
                <a:cs typeface="Segoe UI Symbol"/>
              </a:rPr>
              <a:t>Caméras,</a:t>
            </a:r>
            <a:r>
              <a:rPr sz="1600" spc="-9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145" dirty="0">
                <a:solidFill>
                  <a:srgbClr val="E1E6E9"/>
                </a:solidFill>
                <a:latin typeface="Segoe UI Symbol"/>
                <a:cs typeface="Segoe UI Symbol"/>
              </a:rPr>
              <a:t>LiDAR,</a:t>
            </a:r>
            <a:r>
              <a:rPr sz="1600" spc="-6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114" dirty="0">
                <a:solidFill>
                  <a:srgbClr val="E1E6E9"/>
                </a:solidFill>
                <a:latin typeface="Segoe UI Symbol"/>
                <a:cs typeface="Segoe UI Symbol"/>
              </a:rPr>
              <a:t>radar</a:t>
            </a:r>
            <a:r>
              <a:rPr sz="1600" spc="-8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100" dirty="0">
                <a:solidFill>
                  <a:srgbClr val="E1E6E9"/>
                </a:solidFill>
                <a:latin typeface="Segoe UI Symbol"/>
                <a:cs typeface="Segoe UI Symbol"/>
              </a:rPr>
              <a:t>pour</a:t>
            </a:r>
            <a:r>
              <a:rPr sz="1600" spc="-8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80" dirty="0">
                <a:solidFill>
                  <a:srgbClr val="E1E6E9"/>
                </a:solidFill>
                <a:latin typeface="Segoe UI Symbol"/>
                <a:cs typeface="Segoe UI Symbol"/>
              </a:rPr>
              <a:t>percevoir</a:t>
            </a:r>
            <a:endParaRPr sz="16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spc="110" dirty="0">
                <a:solidFill>
                  <a:srgbClr val="E1E6E9"/>
                </a:solidFill>
                <a:latin typeface="Segoe UI Symbol"/>
                <a:cs typeface="Segoe UI Symbol"/>
              </a:rPr>
              <a:t>l'environnement</a:t>
            </a:r>
            <a:endParaRPr sz="1600">
              <a:latin typeface="Segoe UI Symbol"/>
              <a:cs typeface="Segoe UI Symbol"/>
            </a:endParaRPr>
          </a:p>
          <a:p>
            <a:pPr marL="356870" indent="-344170">
              <a:lnSpc>
                <a:spcPct val="100000"/>
              </a:lnSpc>
              <a:spcBef>
                <a:spcPts val="1764"/>
              </a:spcBef>
              <a:buChar char="•"/>
              <a:tabLst>
                <a:tab pos="356870" algn="l"/>
              </a:tabLst>
            </a:pPr>
            <a:r>
              <a:rPr sz="1600" spc="100" dirty="0">
                <a:solidFill>
                  <a:srgbClr val="E1E6E9"/>
                </a:solidFill>
                <a:latin typeface="Segoe UI Symbol"/>
                <a:cs typeface="Segoe UI Symbol"/>
              </a:rPr>
              <a:t>Intelligence</a:t>
            </a:r>
            <a:r>
              <a:rPr sz="1600" spc="2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100" dirty="0">
                <a:solidFill>
                  <a:srgbClr val="E1E6E9"/>
                </a:solidFill>
                <a:latin typeface="Segoe UI Symbol"/>
                <a:cs typeface="Segoe UI Symbol"/>
              </a:rPr>
              <a:t>artificielle</a:t>
            </a:r>
            <a:endParaRPr sz="1600">
              <a:latin typeface="Segoe UI Symbol"/>
              <a:cs typeface="Segoe UI Symbol"/>
            </a:endParaRPr>
          </a:p>
          <a:p>
            <a:pPr marL="12700" marR="499745">
              <a:lnSpc>
                <a:spcPct val="125000"/>
              </a:lnSpc>
              <a:spcBef>
                <a:spcPts val="1870"/>
              </a:spcBef>
            </a:pPr>
            <a:r>
              <a:rPr sz="1600" spc="90" dirty="0">
                <a:solidFill>
                  <a:srgbClr val="E1E6E9"/>
                </a:solidFill>
                <a:latin typeface="Segoe UI Symbol"/>
                <a:cs typeface="Segoe UI Symbol"/>
              </a:rPr>
              <a:t>Apprentissage</a:t>
            </a:r>
            <a:r>
              <a:rPr sz="1600" spc="-5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90" dirty="0">
                <a:solidFill>
                  <a:srgbClr val="E1E6E9"/>
                </a:solidFill>
                <a:latin typeface="Segoe UI Symbol"/>
                <a:cs typeface="Segoe UI Symbol"/>
              </a:rPr>
              <a:t>profond</a:t>
            </a:r>
            <a:r>
              <a:rPr sz="1600" spc="-10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100" dirty="0">
                <a:solidFill>
                  <a:srgbClr val="E1E6E9"/>
                </a:solidFill>
                <a:latin typeface="Segoe UI Symbol"/>
                <a:cs typeface="Segoe UI Symbol"/>
              </a:rPr>
              <a:t>pour</a:t>
            </a:r>
            <a:r>
              <a:rPr sz="1600" spc="-5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110" dirty="0">
                <a:solidFill>
                  <a:srgbClr val="E1E6E9"/>
                </a:solidFill>
                <a:latin typeface="Segoe UI Symbol"/>
                <a:cs typeface="Segoe UI Symbol"/>
              </a:rPr>
              <a:t>la</a:t>
            </a:r>
            <a:r>
              <a:rPr sz="1600" spc="-4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105" dirty="0">
                <a:solidFill>
                  <a:srgbClr val="E1E6E9"/>
                </a:solidFill>
                <a:latin typeface="Segoe UI Symbol"/>
                <a:cs typeface="Segoe UI Symbol"/>
              </a:rPr>
              <a:t>prise</a:t>
            </a:r>
            <a:r>
              <a:rPr sz="1600" spc="-4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-25" dirty="0">
                <a:solidFill>
                  <a:srgbClr val="E1E6E9"/>
                </a:solidFill>
                <a:latin typeface="Segoe UI Symbol"/>
                <a:cs typeface="Segoe UI Symbol"/>
              </a:rPr>
              <a:t>de </a:t>
            </a:r>
            <a:r>
              <a:rPr sz="1600" spc="90" dirty="0">
                <a:solidFill>
                  <a:srgbClr val="E1E6E9"/>
                </a:solidFill>
                <a:latin typeface="Segoe UI Symbol"/>
                <a:cs typeface="Segoe UI Symbol"/>
              </a:rPr>
              <a:t>décision</a:t>
            </a:r>
            <a:r>
              <a:rPr sz="1600" spc="-5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90" dirty="0">
                <a:solidFill>
                  <a:srgbClr val="E1E6E9"/>
                </a:solidFill>
                <a:latin typeface="Segoe UI Symbol"/>
                <a:cs typeface="Segoe UI Symbol"/>
              </a:rPr>
              <a:t>en</a:t>
            </a:r>
            <a:r>
              <a:rPr sz="1600" spc="-2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105" dirty="0">
                <a:solidFill>
                  <a:srgbClr val="E1E6E9"/>
                </a:solidFill>
                <a:latin typeface="Segoe UI Symbol"/>
                <a:cs typeface="Segoe UI Symbol"/>
              </a:rPr>
              <a:t>temps</a:t>
            </a:r>
            <a:r>
              <a:rPr sz="1600" spc="-9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65" dirty="0">
                <a:solidFill>
                  <a:srgbClr val="E1E6E9"/>
                </a:solidFill>
                <a:latin typeface="Segoe UI Symbol"/>
                <a:cs typeface="Segoe UI Symbol"/>
              </a:rPr>
              <a:t>réel</a:t>
            </a:r>
            <a:endParaRPr sz="1600">
              <a:latin typeface="Segoe UI Symbol"/>
              <a:cs typeface="Segoe UI Symbol"/>
            </a:endParaRPr>
          </a:p>
          <a:p>
            <a:pPr marL="356870" indent="-344170">
              <a:lnSpc>
                <a:spcPct val="100000"/>
              </a:lnSpc>
              <a:spcBef>
                <a:spcPts val="1760"/>
              </a:spcBef>
              <a:buChar char="•"/>
              <a:tabLst>
                <a:tab pos="356870" algn="l"/>
              </a:tabLst>
            </a:pPr>
            <a:r>
              <a:rPr sz="1600" spc="114" dirty="0">
                <a:solidFill>
                  <a:srgbClr val="E1E6E9"/>
                </a:solidFill>
                <a:latin typeface="Segoe UI Symbol"/>
                <a:cs typeface="Segoe UI Symbol"/>
              </a:rPr>
              <a:t>Communication</a:t>
            </a:r>
            <a:r>
              <a:rPr sz="1600" spc="-7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95" dirty="0">
                <a:solidFill>
                  <a:srgbClr val="E1E6E9"/>
                </a:solidFill>
                <a:latin typeface="Segoe UI Symbol"/>
                <a:cs typeface="Segoe UI Symbol"/>
              </a:rPr>
              <a:t>V2X</a:t>
            </a:r>
            <a:endParaRPr sz="16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6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600" spc="110" dirty="0">
                <a:solidFill>
                  <a:srgbClr val="E1E6E9"/>
                </a:solidFill>
                <a:latin typeface="Segoe UI Symbol"/>
                <a:cs typeface="Segoe UI Symbol"/>
              </a:rPr>
              <a:t>Échange</a:t>
            </a:r>
            <a:r>
              <a:rPr sz="1600" spc="-7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dirty="0">
                <a:solidFill>
                  <a:srgbClr val="E1E6E9"/>
                </a:solidFill>
                <a:latin typeface="Segoe UI Symbol"/>
                <a:cs typeface="Segoe UI Symbol"/>
              </a:rPr>
              <a:t>de</a:t>
            </a:r>
            <a:r>
              <a:rPr sz="1600" spc="-7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80" dirty="0">
                <a:solidFill>
                  <a:srgbClr val="E1E6E9"/>
                </a:solidFill>
                <a:latin typeface="Segoe UI Symbol"/>
                <a:cs typeface="Segoe UI Symbol"/>
              </a:rPr>
              <a:t>données</a:t>
            </a:r>
            <a:r>
              <a:rPr sz="1600" spc="-4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95" dirty="0">
                <a:solidFill>
                  <a:srgbClr val="E1E6E9"/>
                </a:solidFill>
                <a:latin typeface="Segoe UI Symbol"/>
                <a:cs typeface="Segoe UI Symbol"/>
              </a:rPr>
              <a:t>entre</a:t>
            </a:r>
            <a:r>
              <a:rPr sz="1600" spc="-5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85" dirty="0">
                <a:solidFill>
                  <a:srgbClr val="E1E6E9"/>
                </a:solidFill>
                <a:latin typeface="Segoe UI Symbol"/>
                <a:cs typeface="Segoe UI Symbol"/>
              </a:rPr>
              <a:t>le</a:t>
            </a:r>
            <a:r>
              <a:rPr sz="1600" spc="-2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100" dirty="0">
                <a:solidFill>
                  <a:srgbClr val="E1E6E9"/>
                </a:solidFill>
                <a:latin typeface="Segoe UI Symbol"/>
                <a:cs typeface="Segoe UI Symbol"/>
              </a:rPr>
              <a:t>véhicule</a:t>
            </a:r>
            <a:r>
              <a:rPr sz="1600" spc="-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65" dirty="0">
                <a:solidFill>
                  <a:srgbClr val="E1E6E9"/>
                </a:solidFill>
                <a:latin typeface="Segoe UI Symbol"/>
                <a:cs typeface="Segoe UI Symbol"/>
              </a:rPr>
              <a:t>et</a:t>
            </a:r>
            <a:r>
              <a:rPr sz="1600" spc="-5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85" dirty="0">
                <a:solidFill>
                  <a:srgbClr val="E1E6E9"/>
                </a:solidFill>
                <a:latin typeface="Segoe UI Symbol"/>
                <a:cs typeface="Segoe UI Symbol"/>
              </a:rPr>
              <a:t>son</a:t>
            </a:r>
            <a:endParaRPr sz="16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spc="80" dirty="0">
                <a:solidFill>
                  <a:srgbClr val="E1E6E9"/>
                </a:solidFill>
                <a:latin typeface="Segoe UI Symbol"/>
                <a:cs typeface="Segoe UI Symbol"/>
              </a:rPr>
              <a:t>écosystème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36996" y="3251073"/>
            <a:ext cx="413956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160" dirty="0">
                <a:solidFill>
                  <a:srgbClr val="F5EFEF"/>
                </a:solidFill>
                <a:latin typeface="Segoe UI Symbol"/>
                <a:cs typeface="Segoe UI Symbol"/>
              </a:rPr>
              <a:t>Les</a:t>
            </a:r>
            <a:r>
              <a:rPr sz="2000" spc="-60" dirty="0">
                <a:solidFill>
                  <a:srgbClr val="F5EFEF"/>
                </a:solidFill>
                <a:latin typeface="Segoe UI Symbol"/>
                <a:cs typeface="Segoe UI Symbol"/>
              </a:rPr>
              <a:t> </a:t>
            </a:r>
            <a:r>
              <a:rPr sz="2000" spc="105" dirty="0">
                <a:solidFill>
                  <a:srgbClr val="F5EFEF"/>
                </a:solidFill>
                <a:latin typeface="Segoe UI Symbol"/>
                <a:cs typeface="Segoe UI Symbol"/>
              </a:rPr>
              <a:t>5</a:t>
            </a:r>
            <a:r>
              <a:rPr sz="2000" spc="-65" dirty="0">
                <a:solidFill>
                  <a:srgbClr val="F5EFEF"/>
                </a:solidFill>
                <a:latin typeface="Segoe UI Symbol"/>
                <a:cs typeface="Segoe UI Symbol"/>
              </a:rPr>
              <a:t> </a:t>
            </a:r>
            <a:r>
              <a:rPr sz="2000" spc="145" dirty="0">
                <a:solidFill>
                  <a:srgbClr val="F5EFEF"/>
                </a:solidFill>
                <a:latin typeface="Segoe UI Symbol"/>
                <a:cs typeface="Segoe UI Symbol"/>
              </a:rPr>
              <a:t>niveaux</a:t>
            </a:r>
            <a:r>
              <a:rPr sz="2000" spc="-45" dirty="0">
                <a:solidFill>
                  <a:srgbClr val="F5EFEF"/>
                </a:solidFill>
                <a:latin typeface="Segoe UI Symbol"/>
                <a:cs typeface="Segoe UI Symbol"/>
              </a:rPr>
              <a:t> </a:t>
            </a:r>
            <a:r>
              <a:rPr sz="2000" spc="114" dirty="0">
                <a:solidFill>
                  <a:srgbClr val="F5EFEF"/>
                </a:solidFill>
                <a:latin typeface="Segoe UI Symbol"/>
                <a:cs typeface="Segoe UI Symbol"/>
              </a:rPr>
              <a:t>d'autonomie</a:t>
            </a:r>
            <a:r>
              <a:rPr sz="2000" spc="-30" dirty="0">
                <a:solidFill>
                  <a:srgbClr val="F5EFEF"/>
                </a:solidFill>
                <a:latin typeface="Segoe UI Symbol"/>
                <a:cs typeface="Segoe UI Symbol"/>
              </a:rPr>
              <a:t> </a:t>
            </a:r>
            <a:r>
              <a:rPr sz="2000" spc="175" dirty="0">
                <a:solidFill>
                  <a:srgbClr val="F5EFEF"/>
                </a:solidFill>
                <a:latin typeface="Segoe UI Symbol"/>
                <a:cs typeface="Segoe UI Symbol"/>
              </a:rPr>
              <a:t>(SAE)</a:t>
            </a:r>
            <a:endParaRPr sz="2000">
              <a:latin typeface="Segoe UI Symbol"/>
              <a:cs typeface="Segoe UI Symbo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946647" y="3788664"/>
            <a:ext cx="475615" cy="478790"/>
            <a:chOff x="5946647" y="3788664"/>
            <a:chExt cx="475615" cy="478790"/>
          </a:xfrm>
        </p:grpSpPr>
        <p:sp>
          <p:nvSpPr>
            <p:cNvPr id="12" name="object 12"/>
            <p:cNvSpPr/>
            <p:nvPr/>
          </p:nvSpPr>
          <p:spPr>
            <a:xfrm>
              <a:off x="5951219" y="3793236"/>
              <a:ext cx="466725" cy="469900"/>
            </a:xfrm>
            <a:custGeom>
              <a:avLst/>
              <a:gdLst/>
              <a:ahLst/>
              <a:cxnLst/>
              <a:rect l="l" t="t" r="r" b="b"/>
              <a:pathLst>
                <a:path w="466725" h="469900">
                  <a:moveTo>
                    <a:pt x="379221" y="0"/>
                  </a:moveTo>
                  <a:lnTo>
                    <a:pt x="87121" y="0"/>
                  </a:lnTo>
                  <a:lnTo>
                    <a:pt x="53203" y="6844"/>
                  </a:lnTo>
                  <a:lnTo>
                    <a:pt x="25511" y="25511"/>
                  </a:lnTo>
                  <a:lnTo>
                    <a:pt x="6844" y="53203"/>
                  </a:lnTo>
                  <a:lnTo>
                    <a:pt x="0" y="87122"/>
                  </a:lnTo>
                  <a:lnTo>
                    <a:pt x="0" y="382269"/>
                  </a:lnTo>
                  <a:lnTo>
                    <a:pt x="6844" y="416188"/>
                  </a:lnTo>
                  <a:lnTo>
                    <a:pt x="25511" y="443880"/>
                  </a:lnTo>
                  <a:lnTo>
                    <a:pt x="53203" y="462547"/>
                  </a:lnTo>
                  <a:lnTo>
                    <a:pt x="87121" y="469391"/>
                  </a:lnTo>
                  <a:lnTo>
                    <a:pt x="379221" y="469391"/>
                  </a:lnTo>
                  <a:lnTo>
                    <a:pt x="413140" y="462547"/>
                  </a:lnTo>
                  <a:lnTo>
                    <a:pt x="440832" y="443880"/>
                  </a:lnTo>
                  <a:lnTo>
                    <a:pt x="459499" y="416188"/>
                  </a:lnTo>
                  <a:lnTo>
                    <a:pt x="466343" y="382269"/>
                  </a:lnTo>
                  <a:lnTo>
                    <a:pt x="466343" y="87122"/>
                  </a:lnTo>
                  <a:lnTo>
                    <a:pt x="459499" y="53203"/>
                  </a:lnTo>
                  <a:lnTo>
                    <a:pt x="440832" y="25511"/>
                  </a:lnTo>
                  <a:lnTo>
                    <a:pt x="413140" y="6844"/>
                  </a:lnTo>
                  <a:lnTo>
                    <a:pt x="379221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51219" y="3793236"/>
              <a:ext cx="466725" cy="469900"/>
            </a:xfrm>
            <a:custGeom>
              <a:avLst/>
              <a:gdLst/>
              <a:ahLst/>
              <a:cxnLst/>
              <a:rect l="l" t="t" r="r" b="b"/>
              <a:pathLst>
                <a:path w="466725" h="469900">
                  <a:moveTo>
                    <a:pt x="0" y="87122"/>
                  </a:moveTo>
                  <a:lnTo>
                    <a:pt x="6844" y="53203"/>
                  </a:lnTo>
                  <a:lnTo>
                    <a:pt x="25511" y="25511"/>
                  </a:lnTo>
                  <a:lnTo>
                    <a:pt x="53203" y="6844"/>
                  </a:lnTo>
                  <a:lnTo>
                    <a:pt x="87121" y="0"/>
                  </a:lnTo>
                  <a:lnTo>
                    <a:pt x="379221" y="0"/>
                  </a:lnTo>
                  <a:lnTo>
                    <a:pt x="413140" y="6844"/>
                  </a:lnTo>
                  <a:lnTo>
                    <a:pt x="440832" y="25511"/>
                  </a:lnTo>
                  <a:lnTo>
                    <a:pt x="459499" y="53203"/>
                  </a:lnTo>
                  <a:lnTo>
                    <a:pt x="466343" y="87122"/>
                  </a:lnTo>
                  <a:lnTo>
                    <a:pt x="466343" y="382269"/>
                  </a:lnTo>
                  <a:lnTo>
                    <a:pt x="459499" y="416188"/>
                  </a:lnTo>
                  <a:lnTo>
                    <a:pt x="440832" y="443880"/>
                  </a:lnTo>
                  <a:lnTo>
                    <a:pt x="413140" y="462547"/>
                  </a:lnTo>
                  <a:lnTo>
                    <a:pt x="379221" y="469391"/>
                  </a:lnTo>
                  <a:lnTo>
                    <a:pt x="87121" y="469391"/>
                  </a:lnTo>
                  <a:lnTo>
                    <a:pt x="53203" y="462547"/>
                  </a:lnTo>
                  <a:lnTo>
                    <a:pt x="25511" y="443880"/>
                  </a:lnTo>
                  <a:lnTo>
                    <a:pt x="6844" y="416188"/>
                  </a:lnTo>
                  <a:lnTo>
                    <a:pt x="0" y="382269"/>
                  </a:lnTo>
                  <a:lnTo>
                    <a:pt x="0" y="87122"/>
                  </a:lnTo>
                  <a:close/>
                </a:path>
              </a:pathLst>
            </a:custGeom>
            <a:ln w="9144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100953" y="3746372"/>
            <a:ext cx="16256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305" dirty="0">
                <a:solidFill>
                  <a:srgbClr val="E1E6E9"/>
                </a:solidFill>
                <a:latin typeface="Segoe UI Symbol"/>
                <a:cs typeface="Segoe UI Symbol"/>
              </a:rPr>
              <a:t>1</a:t>
            </a:r>
            <a:endParaRPr sz="2450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81013" y="3846067"/>
            <a:ext cx="2565400" cy="8026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110" dirty="0">
                <a:solidFill>
                  <a:srgbClr val="E1E6E9"/>
                </a:solidFill>
                <a:latin typeface="Segoe UI Symbol"/>
                <a:cs typeface="Segoe UI Symbol"/>
              </a:rPr>
              <a:t>Niveau</a:t>
            </a:r>
            <a:r>
              <a:rPr sz="2000" spc="-50" dirty="0">
                <a:solidFill>
                  <a:srgbClr val="E1E6E9"/>
                </a:solidFill>
                <a:latin typeface="Segoe UI Symbol"/>
                <a:cs typeface="Segoe UI Symbol"/>
              </a:rPr>
              <a:t> 1</a:t>
            </a:r>
            <a:endParaRPr sz="20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600" spc="105" dirty="0">
                <a:solidFill>
                  <a:srgbClr val="E1E6E9"/>
                </a:solidFill>
                <a:latin typeface="Segoe UI Symbol"/>
                <a:cs typeface="Segoe UI Symbol"/>
              </a:rPr>
              <a:t>Assistance</a:t>
            </a:r>
            <a:r>
              <a:rPr sz="1600" spc="-4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100" dirty="0">
                <a:solidFill>
                  <a:srgbClr val="E1E6E9"/>
                </a:solidFill>
                <a:latin typeface="Segoe UI Symbol"/>
                <a:cs typeface="Segoe UI Symbol"/>
              </a:rPr>
              <a:t>au</a:t>
            </a:r>
            <a:r>
              <a:rPr sz="1600" spc="-8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75" dirty="0">
                <a:solidFill>
                  <a:srgbClr val="E1E6E9"/>
                </a:solidFill>
                <a:latin typeface="Segoe UI Symbol"/>
                <a:cs typeface="Segoe UI Symbol"/>
              </a:rPr>
              <a:t>conducteur</a:t>
            </a:r>
            <a:endParaRPr sz="1600">
              <a:latin typeface="Segoe UI Symbol"/>
              <a:cs typeface="Segoe UI Symbo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006583" y="3788664"/>
            <a:ext cx="478790" cy="478790"/>
            <a:chOff x="10006583" y="3788664"/>
            <a:chExt cx="478790" cy="478790"/>
          </a:xfrm>
        </p:grpSpPr>
        <p:sp>
          <p:nvSpPr>
            <p:cNvPr id="17" name="object 17"/>
            <p:cNvSpPr/>
            <p:nvPr/>
          </p:nvSpPr>
          <p:spPr>
            <a:xfrm>
              <a:off x="10011155" y="3793236"/>
              <a:ext cx="469900" cy="469900"/>
            </a:xfrm>
            <a:custGeom>
              <a:avLst/>
              <a:gdLst/>
              <a:ahLst/>
              <a:cxnLst/>
              <a:rect l="l" t="t" r="r" b="b"/>
              <a:pathLst>
                <a:path w="469900" h="469900">
                  <a:moveTo>
                    <a:pt x="381762" y="0"/>
                  </a:moveTo>
                  <a:lnTo>
                    <a:pt x="87629" y="0"/>
                  </a:lnTo>
                  <a:lnTo>
                    <a:pt x="53524" y="6887"/>
                  </a:lnTo>
                  <a:lnTo>
                    <a:pt x="25669" y="25669"/>
                  </a:lnTo>
                  <a:lnTo>
                    <a:pt x="6887" y="53524"/>
                  </a:lnTo>
                  <a:lnTo>
                    <a:pt x="0" y="87629"/>
                  </a:lnTo>
                  <a:lnTo>
                    <a:pt x="0" y="381762"/>
                  </a:lnTo>
                  <a:lnTo>
                    <a:pt x="6887" y="415867"/>
                  </a:lnTo>
                  <a:lnTo>
                    <a:pt x="25669" y="443722"/>
                  </a:lnTo>
                  <a:lnTo>
                    <a:pt x="53524" y="462504"/>
                  </a:lnTo>
                  <a:lnTo>
                    <a:pt x="87629" y="469391"/>
                  </a:lnTo>
                  <a:lnTo>
                    <a:pt x="381762" y="469391"/>
                  </a:lnTo>
                  <a:lnTo>
                    <a:pt x="415867" y="462504"/>
                  </a:lnTo>
                  <a:lnTo>
                    <a:pt x="443722" y="443722"/>
                  </a:lnTo>
                  <a:lnTo>
                    <a:pt x="462504" y="415867"/>
                  </a:lnTo>
                  <a:lnTo>
                    <a:pt x="469392" y="381762"/>
                  </a:lnTo>
                  <a:lnTo>
                    <a:pt x="469392" y="87629"/>
                  </a:lnTo>
                  <a:lnTo>
                    <a:pt x="462504" y="53524"/>
                  </a:lnTo>
                  <a:lnTo>
                    <a:pt x="443722" y="25669"/>
                  </a:lnTo>
                  <a:lnTo>
                    <a:pt x="415867" y="6887"/>
                  </a:lnTo>
                  <a:lnTo>
                    <a:pt x="381762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011155" y="3793236"/>
              <a:ext cx="469900" cy="469900"/>
            </a:xfrm>
            <a:custGeom>
              <a:avLst/>
              <a:gdLst/>
              <a:ahLst/>
              <a:cxnLst/>
              <a:rect l="l" t="t" r="r" b="b"/>
              <a:pathLst>
                <a:path w="469900" h="469900">
                  <a:moveTo>
                    <a:pt x="0" y="87629"/>
                  </a:moveTo>
                  <a:lnTo>
                    <a:pt x="6887" y="53524"/>
                  </a:lnTo>
                  <a:lnTo>
                    <a:pt x="25669" y="25669"/>
                  </a:lnTo>
                  <a:lnTo>
                    <a:pt x="53524" y="6887"/>
                  </a:lnTo>
                  <a:lnTo>
                    <a:pt x="87629" y="0"/>
                  </a:lnTo>
                  <a:lnTo>
                    <a:pt x="381762" y="0"/>
                  </a:lnTo>
                  <a:lnTo>
                    <a:pt x="415867" y="6887"/>
                  </a:lnTo>
                  <a:lnTo>
                    <a:pt x="443722" y="25669"/>
                  </a:lnTo>
                  <a:lnTo>
                    <a:pt x="462504" y="53524"/>
                  </a:lnTo>
                  <a:lnTo>
                    <a:pt x="469392" y="87629"/>
                  </a:lnTo>
                  <a:lnTo>
                    <a:pt x="469392" y="381762"/>
                  </a:lnTo>
                  <a:lnTo>
                    <a:pt x="462504" y="415867"/>
                  </a:lnTo>
                  <a:lnTo>
                    <a:pt x="443722" y="443722"/>
                  </a:lnTo>
                  <a:lnTo>
                    <a:pt x="415867" y="462504"/>
                  </a:lnTo>
                  <a:lnTo>
                    <a:pt x="381762" y="469391"/>
                  </a:lnTo>
                  <a:lnTo>
                    <a:pt x="87629" y="469391"/>
                  </a:lnTo>
                  <a:lnTo>
                    <a:pt x="53524" y="462504"/>
                  </a:lnTo>
                  <a:lnTo>
                    <a:pt x="25669" y="443722"/>
                  </a:lnTo>
                  <a:lnTo>
                    <a:pt x="6887" y="415867"/>
                  </a:lnTo>
                  <a:lnTo>
                    <a:pt x="0" y="381762"/>
                  </a:lnTo>
                  <a:lnTo>
                    <a:pt x="0" y="87629"/>
                  </a:lnTo>
                  <a:close/>
                </a:path>
              </a:pathLst>
            </a:custGeom>
            <a:ln w="9144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140188" y="3746372"/>
            <a:ext cx="211454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80" dirty="0">
                <a:solidFill>
                  <a:srgbClr val="E1E6E9"/>
                </a:solidFill>
                <a:latin typeface="Segoe UI Symbol"/>
                <a:cs typeface="Segoe UI Symbol"/>
              </a:rPr>
              <a:t>2</a:t>
            </a:r>
            <a:endParaRPr sz="2450">
              <a:latin typeface="Segoe UI Symbol"/>
              <a:cs typeface="Segoe UI 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644885" y="3846067"/>
            <a:ext cx="2485390" cy="8026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110" dirty="0">
                <a:solidFill>
                  <a:srgbClr val="E1E6E9"/>
                </a:solidFill>
                <a:latin typeface="Segoe UI Symbol"/>
                <a:cs typeface="Segoe UI Symbol"/>
              </a:rPr>
              <a:t>Niveau</a:t>
            </a:r>
            <a:r>
              <a:rPr sz="2000" spc="-5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2000" spc="55" dirty="0">
                <a:solidFill>
                  <a:srgbClr val="E1E6E9"/>
                </a:solidFill>
                <a:latin typeface="Segoe UI Symbol"/>
                <a:cs typeface="Segoe UI Symbol"/>
              </a:rPr>
              <a:t>2</a:t>
            </a:r>
            <a:endParaRPr sz="20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600" spc="105" dirty="0">
                <a:solidFill>
                  <a:srgbClr val="E1E6E9"/>
                </a:solidFill>
                <a:latin typeface="Segoe UI Symbol"/>
                <a:cs typeface="Segoe UI Symbol"/>
              </a:rPr>
              <a:t>Automatisation</a:t>
            </a:r>
            <a:r>
              <a:rPr sz="1600" spc="-3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90" dirty="0">
                <a:solidFill>
                  <a:srgbClr val="E1E6E9"/>
                </a:solidFill>
                <a:latin typeface="Segoe UI Symbol"/>
                <a:cs typeface="Segoe UI Symbol"/>
              </a:rPr>
              <a:t>partielle</a:t>
            </a:r>
            <a:endParaRPr sz="1600">
              <a:latin typeface="Segoe UI Symbol"/>
              <a:cs typeface="Segoe UI Symbo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946647" y="5020055"/>
            <a:ext cx="475615" cy="478790"/>
            <a:chOff x="5946647" y="5020055"/>
            <a:chExt cx="475615" cy="478790"/>
          </a:xfrm>
        </p:grpSpPr>
        <p:sp>
          <p:nvSpPr>
            <p:cNvPr id="22" name="object 22"/>
            <p:cNvSpPr/>
            <p:nvPr/>
          </p:nvSpPr>
          <p:spPr>
            <a:xfrm>
              <a:off x="5951219" y="5024627"/>
              <a:ext cx="466725" cy="469900"/>
            </a:xfrm>
            <a:custGeom>
              <a:avLst/>
              <a:gdLst/>
              <a:ahLst/>
              <a:cxnLst/>
              <a:rect l="l" t="t" r="r" b="b"/>
              <a:pathLst>
                <a:path w="466725" h="469900">
                  <a:moveTo>
                    <a:pt x="379221" y="0"/>
                  </a:moveTo>
                  <a:lnTo>
                    <a:pt x="87121" y="0"/>
                  </a:lnTo>
                  <a:lnTo>
                    <a:pt x="53203" y="6844"/>
                  </a:lnTo>
                  <a:lnTo>
                    <a:pt x="25511" y="25511"/>
                  </a:lnTo>
                  <a:lnTo>
                    <a:pt x="6844" y="53203"/>
                  </a:lnTo>
                  <a:lnTo>
                    <a:pt x="0" y="87122"/>
                  </a:lnTo>
                  <a:lnTo>
                    <a:pt x="0" y="382270"/>
                  </a:lnTo>
                  <a:lnTo>
                    <a:pt x="6844" y="416188"/>
                  </a:lnTo>
                  <a:lnTo>
                    <a:pt x="25511" y="443880"/>
                  </a:lnTo>
                  <a:lnTo>
                    <a:pt x="53203" y="462547"/>
                  </a:lnTo>
                  <a:lnTo>
                    <a:pt x="87121" y="469392"/>
                  </a:lnTo>
                  <a:lnTo>
                    <a:pt x="379221" y="469392"/>
                  </a:lnTo>
                  <a:lnTo>
                    <a:pt x="413140" y="462547"/>
                  </a:lnTo>
                  <a:lnTo>
                    <a:pt x="440832" y="443880"/>
                  </a:lnTo>
                  <a:lnTo>
                    <a:pt x="459499" y="416188"/>
                  </a:lnTo>
                  <a:lnTo>
                    <a:pt x="466343" y="382270"/>
                  </a:lnTo>
                  <a:lnTo>
                    <a:pt x="466343" y="87122"/>
                  </a:lnTo>
                  <a:lnTo>
                    <a:pt x="459499" y="53203"/>
                  </a:lnTo>
                  <a:lnTo>
                    <a:pt x="440832" y="25511"/>
                  </a:lnTo>
                  <a:lnTo>
                    <a:pt x="413140" y="6844"/>
                  </a:lnTo>
                  <a:lnTo>
                    <a:pt x="379221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51219" y="5024627"/>
              <a:ext cx="466725" cy="469900"/>
            </a:xfrm>
            <a:custGeom>
              <a:avLst/>
              <a:gdLst/>
              <a:ahLst/>
              <a:cxnLst/>
              <a:rect l="l" t="t" r="r" b="b"/>
              <a:pathLst>
                <a:path w="466725" h="469900">
                  <a:moveTo>
                    <a:pt x="0" y="87122"/>
                  </a:moveTo>
                  <a:lnTo>
                    <a:pt x="6844" y="53203"/>
                  </a:lnTo>
                  <a:lnTo>
                    <a:pt x="25511" y="25511"/>
                  </a:lnTo>
                  <a:lnTo>
                    <a:pt x="53203" y="6844"/>
                  </a:lnTo>
                  <a:lnTo>
                    <a:pt x="87121" y="0"/>
                  </a:lnTo>
                  <a:lnTo>
                    <a:pt x="379221" y="0"/>
                  </a:lnTo>
                  <a:lnTo>
                    <a:pt x="413140" y="6844"/>
                  </a:lnTo>
                  <a:lnTo>
                    <a:pt x="440832" y="25511"/>
                  </a:lnTo>
                  <a:lnTo>
                    <a:pt x="459499" y="53203"/>
                  </a:lnTo>
                  <a:lnTo>
                    <a:pt x="466343" y="87122"/>
                  </a:lnTo>
                  <a:lnTo>
                    <a:pt x="466343" y="382270"/>
                  </a:lnTo>
                  <a:lnTo>
                    <a:pt x="459499" y="416188"/>
                  </a:lnTo>
                  <a:lnTo>
                    <a:pt x="440832" y="443880"/>
                  </a:lnTo>
                  <a:lnTo>
                    <a:pt x="413140" y="462547"/>
                  </a:lnTo>
                  <a:lnTo>
                    <a:pt x="379221" y="469392"/>
                  </a:lnTo>
                  <a:lnTo>
                    <a:pt x="87121" y="469392"/>
                  </a:lnTo>
                  <a:lnTo>
                    <a:pt x="53203" y="462547"/>
                  </a:lnTo>
                  <a:lnTo>
                    <a:pt x="25511" y="443880"/>
                  </a:lnTo>
                  <a:lnTo>
                    <a:pt x="6844" y="416188"/>
                  </a:lnTo>
                  <a:lnTo>
                    <a:pt x="0" y="382270"/>
                  </a:lnTo>
                  <a:lnTo>
                    <a:pt x="0" y="87122"/>
                  </a:lnTo>
                  <a:close/>
                </a:path>
              </a:pathLst>
            </a:custGeom>
            <a:ln w="9143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082665" y="4977764"/>
            <a:ext cx="20002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50" dirty="0">
                <a:solidFill>
                  <a:srgbClr val="E1E6E9"/>
                </a:solidFill>
                <a:latin typeface="Segoe UI Symbol"/>
                <a:cs typeface="Segoe UI Symbol"/>
              </a:rPr>
              <a:t>3</a:t>
            </a:r>
            <a:endParaRPr sz="2450">
              <a:latin typeface="Segoe UI Symbol"/>
              <a:cs typeface="Segoe UI 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81013" y="5077459"/>
            <a:ext cx="3097530" cy="8026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110" dirty="0">
                <a:solidFill>
                  <a:srgbClr val="E1E6E9"/>
                </a:solidFill>
                <a:latin typeface="Segoe UI Symbol"/>
                <a:cs typeface="Segoe UI Symbol"/>
              </a:rPr>
              <a:t>Niveau</a:t>
            </a:r>
            <a:r>
              <a:rPr sz="2000" spc="-50" dirty="0">
                <a:solidFill>
                  <a:srgbClr val="E1E6E9"/>
                </a:solidFill>
                <a:latin typeface="Segoe UI Symbol"/>
                <a:cs typeface="Segoe UI Symbol"/>
              </a:rPr>
              <a:t> 3</a:t>
            </a:r>
            <a:endParaRPr sz="20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sz="1600" spc="105" dirty="0">
                <a:solidFill>
                  <a:srgbClr val="E1E6E9"/>
                </a:solidFill>
                <a:latin typeface="Segoe UI Symbol"/>
                <a:cs typeface="Segoe UI Symbol"/>
              </a:rPr>
              <a:t>Automatisation</a:t>
            </a:r>
            <a:r>
              <a:rPr sz="1600" spc="-3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85" dirty="0">
                <a:solidFill>
                  <a:srgbClr val="E1E6E9"/>
                </a:solidFill>
                <a:latin typeface="Segoe UI Symbol"/>
                <a:cs typeface="Segoe UI Symbol"/>
              </a:rPr>
              <a:t>conditionnelle</a:t>
            </a:r>
            <a:endParaRPr sz="1600">
              <a:latin typeface="Segoe UI Symbol"/>
              <a:cs typeface="Segoe UI Symbo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006583" y="5020055"/>
            <a:ext cx="478790" cy="478790"/>
            <a:chOff x="10006583" y="5020055"/>
            <a:chExt cx="478790" cy="478790"/>
          </a:xfrm>
        </p:grpSpPr>
        <p:sp>
          <p:nvSpPr>
            <p:cNvPr id="27" name="object 27"/>
            <p:cNvSpPr/>
            <p:nvPr/>
          </p:nvSpPr>
          <p:spPr>
            <a:xfrm>
              <a:off x="10011155" y="5024627"/>
              <a:ext cx="469900" cy="469900"/>
            </a:xfrm>
            <a:custGeom>
              <a:avLst/>
              <a:gdLst/>
              <a:ahLst/>
              <a:cxnLst/>
              <a:rect l="l" t="t" r="r" b="b"/>
              <a:pathLst>
                <a:path w="469900" h="469900">
                  <a:moveTo>
                    <a:pt x="381762" y="0"/>
                  </a:moveTo>
                  <a:lnTo>
                    <a:pt x="87629" y="0"/>
                  </a:lnTo>
                  <a:lnTo>
                    <a:pt x="53524" y="6887"/>
                  </a:lnTo>
                  <a:lnTo>
                    <a:pt x="25669" y="25669"/>
                  </a:lnTo>
                  <a:lnTo>
                    <a:pt x="6887" y="53524"/>
                  </a:lnTo>
                  <a:lnTo>
                    <a:pt x="0" y="87630"/>
                  </a:lnTo>
                  <a:lnTo>
                    <a:pt x="0" y="381762"/>
                  </a:lnTo>
                  <a:lnTo>
                    <a:pt x="6887" y="415867"/>
                  </a:lnTo>
                  <a:lnTo>
                    <a:pt x="25669" y="443722"/>
                  </a:lnTo>
                  <a:lnTo>
                    <a:pt x="53524" y="462504"/>
                  </a:lnTo>
                  <a:lnTo>
                    <a:pt x="87629" y="469392"/>
                  </a:lnTo>
                  <a:lnTo>
                    <a:pt x="381762" y="469392"/>
                  </a:lnTo>
                  <a:lnTo>
                    <a:pt x="415867" y="462504"/>
                  </a:lnTo>
                  <a:lnTo>
                    <a:pt x="443722" y="443722"/>
                  </a:lnTo>
                  <a:lnTo>
                    <a:pt x="462504" y="415867"/>
                  </a:lnTo>
                  <a:lnTo>
                    <a:pt x="469392" y="381762"/>
                  </a:lnTo>
                  <a:lnTo>
                    <a:pt x="469392" y="87630"/>
                  </a:lnTo>
                  <a:lnTo>
                    <a:pt x="462504" y="53524"/>
                  </a:lnTo>
                  <a:lnTo>
                    <a:pt x="443722" y="25669"/>
                  </a:lnTo>
                  <a:lnTo>
                    <a:pt x="415867" y="6887"/>
                  </a:lnTo>
                  <a:lnTo>
                    <a:pt x="381762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011155" y="5024627"/>
              <a:ext cx="469900" cy="469900"/>
            </a:xfrm>
            <a:custGeom>
              <a:avLst/>
              <a:gdLst/>
              <a:ahLst/>
              <a:cxnLst/>
              <a:rect l="l" t="t" r="r" b="b"/>
              <a:pathLst>
                <a:path w="469900" h="469900">
                  <a:moveTo>
                    <a:pt x="0" y="87630"/>
                  </a:moveTo>
                  <a:lnTo>
                    <a:pt x="6887" y="53524"/>
                  </a:lnTo>
                  <a:lnTo>
                    <a:pt x="25669" y="25669"/>
                  </a:lnTo>
                  <a:lnTo>
                    <a:pt x="53524" y="6887"/>
                  </a:lnTo>
                  <a:lnTo>
                    <a:pt x="87629" y="0"/>
                  </a:lnTo>
                  <a:lnTo>
                    <a:pt x="381762" y="0"/>
                  </a:lnTo>
                  <a:lnTo>
                    <a:pt x="415867" y="6887"/>
                  </a:lnTo>
                  <a:lnTo>
                    <a:pt x="443722" y="25669"/>
                  </a:lnTo>
                  <a:lnTo>
                    <a:pt x="462504" y="53524"/>
                  </a:lnTo>
                  <a:lnTo>
                    <a:pt x="469392" y="87630"/>
                  </a:lnTo>
                  <a:lnTo>
                    <a:pt x="469392" y="381762"/>
                  </a:lnTo>
                  <a:lnTo>
                    <a:pt x="462504" y="415867"/>
                  </a:lnTo>
                  <a:lnTo>
                    <a:pt x="443722" y="443722"/>
                  </a:lnTo>
                  <a:lnTo>
                    <a:pt x="415867" y="462504"/>
                  </a:lnTo>
                  <a:lnTo>
                    <a:pt x="381762" y="469392"/>
                  </a:lnTo>
                  <a:lnTo>
                    <a:pt x="87629" y="469392"/>
                  </a:lnTo>
                  <a:lnTo>
                    <a:pt x="53524" y="462504"/>
                  </a:lnTo>
                  <a:lnTo>
                    <a:pt x="25669" y="443722"/>
                  </a:lnTo>
                  <a:lnTo>
                    <a:pt x="6887" y="415867"/>
                  </a:lnTo>
                  <a:lnTo>
                    <a:pt x="0" y="381762"/>
                  </a:lnTo>
                  <a:lnTo>
                    <a:pt x="0" y="87630"/>
                  </a:lnTo>
                  <a:close/>
                </a:path>
              </a:pathLst>
            </a:custGeom>
            <a:ln w="9144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0134092" y="4977764"/>
            <a:ext cx="22606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185" dirty="0">
                <a:solidFill>
                  <a:srgbClr val="E1E6E9"/>
                </a:solidFill>
                <a:latin typeface="Segoe UI Symbol"/>
                <a:cs typeface="Segoe UI Symbol"/>
              </a:rPr>
              <a:t>4</a:t>
            </a:r>
            <a:endParaRPr sz="2450">
              <a:latin typeface="Segoe UI Symbol"/>
              <a:cs typeface="Segoe UI 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644885" y="5077459"/>
            <a:ext cx="2226310" cy="8026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110" dirty="0">
                <a:solidFill>
                  <a:srgbClr val="E1E6E9"/>
                </a:solidFill>
                <a:latin typeface="Segoe UI Symbol"/>
                <a:cs typeface="Segoe UI Symbol"/>
              </a:rPr>
              <a:t>Niveau</a:t>
            </a:r>
            <a:r>
              <a:rPr sz="2000" spc="-5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2000" spc="150" dirty="0">
                <a:solidFill>
                  <a:srgbClr val="E1E6E9"/>
                </a:solidFill>
                <a:latin typeface="Segoe UI Symbol"/>
                <a:cs typeface="Segoe UI Symbol"/>
              </a:rPr>
              <a:t>4</a:t>
            </a:r>
            <a:endParaRPr sz="20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sz="1600" spc="100" dirty="0">
                <a:solidFill>
                  <a:srgbClr val="E1E6E9"/>
                </a:solidFill>
                <a:latin typeface="Segoe UI Symbol"/>
                <a:cs typeface="Segoe UI Symbol"/>
              </a:rPr>
              <a:t>Haute</a:t>
            </a:r>
            <a:r>
              <a:rPr sz="1600" spc="-6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100" dirty="0">
                <a:solidFill>
                  <a:srgbClr val="E1E6E9"/>
                </a:solidFill>
                <a:latin typeface="Segoe UI Symbol"/>
                <a:cs typeface="Segoe UI Symbol"/>
              </a:rPr>
              <a:t>automatisation</a:t>
            </a:r>
            <a:endParaRPr sz="1600">
              <a:latin typeface="Segoe UI Symbol"/>
              <a:cs typeface="Segoe UI Symbo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946647" y="6251447"/>
            <a:ext cx="475615" cy="475615"/>
            <a:chOff x="5946647" y="6251447"/>
            <a:chExt cx="475615" cy="475615"/>
          </a:xfrm>
        </p:grpSpPr>
        <p:sp>
          <p:nvSpPr>
            <p:cNvPr id="32" name="object 32"/>
            <p:cNvSpPr/>
            <p:nvPr/>
          </p:nvSpPr>
          <p:spPr>
            <a:xfrm>
              <a:off x="5951219" y="6256019"/>
              <a:ext cx="466725" cy="466725"/>
            </a:xfrm>
            <a:custGeom>
              <a:avLst/>
              <a:gdLst/>
              <a:ahLst/>
              <a:cxnLst/>
              <a:rect l="l" t="t" r="r" b="b"/>
              <a:pathLst>
                <a:path w="466725" h="466725">
                  <a:moveTo>
                    <a:pt x="379221" y="0"/>
                  </a:moveTo>
                  <a:lnTo>
                    <a:pt x="87121" y="0"/>
                  </a:lnTo>
                  <a:lnTo>
                    <a:pt x="53203" y="6844"/>
                  </a:lnTo>
                  <a:lnTo>
                    <a:pt x="25511" y="25511"/>
                  </a:lnTo>
                  <a:lnTo>
                    <a:pt x="6844" y="53203"/>
                  </a:lnTo>
                  <a:lnTo>
                    <a:pt x="0" y="87121"/>
                  </a:lnTo>
                  <a:lnTo>
                    <a:pt x="0" y="379221"/>
                  </a:lnTo>
                  <a:lnTo>
                    <a:pt x="6844" y="413140"/>
                  </a:lnTo>
                  <a:lnTo>
                    <a:pt x="25511" y="440832"/>
                  </a:lnTo>
                  <a:lnTo>
                    <a:pt x="53203" y="459499"/>
                  </a:lnTo>
                  <a:lnTo>
                    <a:pt x="87121" y="466343"/>
                  </a:lnTo>
                  <a:lnTo>
                    <a:pt x="379221" y="466343"/>
                  </a:lnTo>
                  <a:lnTo>
                    <a:pt x="413140" y="459499"/>
                  </a:lnTo>
                  <a:lnTo>
                    <a:pt x="440832" y="440832"/>
                  </a:lnTo>
                  <a:lnTo>
                    <a:pt x="459499" y="413140"/>
                  </a:lnTo>
                  <a:lnTo>
                    <a:pt x="466343" y="379221"/>
                  </a:lnTo>
                  <a:lnTo>
                    <a:pt x="466343" y="87121"/>
                  </a:lnTo>
                  <a:lnTo>
                    <a:pt x="459499" y="53203"/>
                  </a:lnTo>
                  <a:lnTo>
                    <a:pt x="440832" y="25511"/>
                  </a:lnTo>
                  <a:lnTo>
                    <a:pt x="413140" y="6844"/>
                  </a:lnTo>
                  <a:lnTo>
                    <a:pt x="379221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951219" y="6256019"/>
              <a:ext cx="466725" cy="466725"/>
            </a:xfrm>
            <a:custGeom>
              <a:avLst/>
              <a:gdLst/>
              <a:ahLst/>
              <a:cxnLst/>
              <a:rect l="l" t="t" r="r" b="b"/>
              <a:pathLst>
                <a:path w="466725" h="466725">
                  <a:moveTo>
                    <a:pt x="0" y="87121"/>
                  </a:moveTo>
                  <a:lnTo>
                    <a:pt x="6844" y="53203"/>
                  </a:lnTo>
                  <a:lnTo>
                    <a:pt x="25511" y="25511"/>
                  </a:lnTo>
                  <a:lnTo>
                    <a:pt x="53203" y="6844"/>
                  </a:lnTo>
                  <a:lnTo>
                    <a:pt x="87121" y="0"/>
                  </a:lnTo>
                  <a:lnTo>
                    <a:pt x="379221" y="0"/>
                  </a:lnTo>
                  <a:lnTo>
                    <a:pt x="413140" y="6844"/>
                  </a:lnTo>
                  <a:lnTo>
                    <a:pt x="440832" y="25511"/>
                  </a:lnTo>
                  <a:lnTo>
                    <a:pt x="459499" y="53203"/>
                  </a:lnTo>
                  <a:lnTo>
                    <a:pt x="466343" y="87121"/>
                  </a:lnTo>
                  <a:lnTo>
                    <a:pt x="466343" y="379221"/>
                  </a:lnTo>
                  <a:lnTo>
                    <a:pt x="459499" y="413140"/>
                  </a:lnTo>
                  <a:lnTo>
                    <a:pt x="440832" y="440832"/>
                  </a:lnTo>
                  <a:lnTo>
                    <a:pt x="413140" y="459499"/>
                  </a:lnTo>
                  <a:lnTo>
                    <a:pt x="379221" y="466343"/>
                  </a:lnTo>
                  <a:lnTo>
                    <a:pt x="87121" y="466343"/>
                  </a:lnTo>
                  <a:lnTo>
                    <a:pt x="53203" y="459499"/>
                  </a:lnTo>
                  <a:lnTo>
                    <a:pt x="25511" y="440832"/>
                  </a:lnTo>
                  <a:lnTo>
                    <a:pt x="6844" y="413140"/>
                  </a:lnTo>
                  <a:lnTo>
                    <a:pt x="0" y="379221"/>
                  </a:lnTo>
                  <a:lnTo>
                    <a:pt x="0" y="87121"/>
                  </a:lnTo>
                  <a:close/>
                </a:path>
              </a:pathLst>
            </a:custGeom>
            <a:ln w="9144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076569" y="6209157"/>
            <a:ext cx="21018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65" dirty="0">
                <a:solidFill>
                  <a:srgbClr val="E1E6E9"/>
                </a:solidFill>
                <a:latin typeface="Segoe UI Symbol"/>
                <a:cs typeface="Segoe UI Symbol"/>
              </a:rPr>
              <a:t>5</a:t>
            </a:r>
            <a:endParaRPr sz="2450">
              <a:latin typeface="Segoe UI Symbol"/>
              <a:cs typeface="Segoe UI 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581013" y="6308851"/>
            <a:ext cx="3295650" cy="8026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110" dirty="0">
                <a:solidFill>
                  <a:srgbClr val="E1E6E9"/>
                </a:solidFill>
                <a:latin typeface="Segoe UI Symbol"/>
                <a:cs typeface="Segoe UI Symbol"/>
              </a:rPr>
              <a:t>Niveau</a:t>
            </a:r>
            <a:r>
              <a:rPr sz="2000" spc="-5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2000" spc="55" dirty="0">
                <a:solidFill>
                  <a:srgbClr val="E1E6E9"/>
                </a:solidFill>
                <a:latin typeface="Segoe UI Symbol"/>
                <a:cs typeface="Segoe UI Symbol"/>
              </a:rPr>
              <a:t>5</a:t>
            </a:r>
            <a:endParaRPr sz="20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600" spc="80" dirty="0">
                <a:solidFill>
                  <a:srgbClr val="E1E6E9"/>
                </a:solidFill>
                <a:latin typeface="Segoe UI Symbol"/>
                <a:cs typeface="Segoe UI Symbol"/>
              </a:rPr>
              <a:t>Conduite</a:t>
            </a:r>
            <a:r>
              <a:rPr sz="1600" spc="-4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100" dirty="0">
                <a:solidFill>
                  <a:srgbClr val="E1E6E9"/>
                </a:solidFill>
                <a:latin typeface="Segoe UI Symbol"/>
                <a:cs typeface="Segoe UI Symbol"/>
              </a:rPr>
              <a:t>entièrement</a:t>
            </a:r>
            <a:r>
              <a:rPr sz="1600" spc="-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00" spc="85" dirty="0">
                <a:solidFill>
                  <a:srgbClr val="E1E6E9"/>
                </a:solidFill>
                <a:latin typeface="Segoe UI Symbol"/>
                <a:cs typeface="Segoe UI Symbol"/>
              </a:rPr>
              <a:t>autonome</a:t>
            </a:r>
            <a:endParaRPr sz="16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36">
            <a:extLst>
              <a:ext uri="{FF2B5EF4-FFF2-40B4-BE49-F238E27FC236}">
                <a16:creationId xmlns:a16="http://schemas.microsoft.com/office/drawing/2014/main" id="{4FEB17B9-A6FE-BF95-5D22-1BE77E63F9E8}"/>
              </a:ext>
            </a:extLst>
          </p:cNvPr>
          <p:cNvSpPr/>
          <p:nvPr/>
        </p:nvSpPr>
        <p:spPr>
          <a:xfrm>
            <a:off x="3970" y="20251"/>
            <a:ext cx="14554200" cy="8189097"/>
          </a:xfrm>
          <a:custGeom>
            <a:avLst/>
            <a:gdLst/>
            <a:ahLst/>
            <a:cxnLst/>
            <a:rect l="l" t="t" r="r" b="b"/>
            <a:pathLst>
              <a:path w="2078990" h="920750">
                <a:moveTo>
                  <a:pt x="2078735" y="0"/>
                </a:moveTo>
                <a:lnTo>
                  <a:pt x="0" y="0"/>
                </a:lnTo>
                <a:lnTo>
                  <a:pt x="0" y="920496"/>
                </a:lnTo>
                <a:lnTo>
                  <a:pt x="2078735" y="920496"/>
                </a:lnTo>
                <a:lnTo>
                  <a:pt x="2078735" y="0"/>
                </a:lnTo>
                <a:close/>
              </a:path>
            </a:pathLst>
          </a:custGeom>
          <a:solidFill>
            <a:srgbClr val="162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743712" y="816863"/>
            <a:ext cx="1036319" cy="381000"/>
          </a:xfrm>
          <a:custGeom>
            <a:avLst/>
            <a:gdLst/>
            <a:ahLst/>
            <a:cxnLst/>
            <a:rect l="l" t="t" r="r" b="b"/>
            <a:pathLst>
              <a:path w="1036319" h="381000">
                <a:moveTo>
                  <a:pt x="964819" y="0"/>
                </a:moveTo>
                <a:lnTo>
                  <a:pt x="71564" y="0"/>
                </a:lnTo>
                <a:lnTo>
                  <a:pt x="43709" y="5617"/>
                </a:lnTo>
                <a:lnTo>
                  <a:pt x="20961" y="20939"/>
                </a:lnTo>
                <a:lnTo>
                  <a:pt x="5624" y="43666"/>
                </a:lnTo>
                <a:lnTo>
                  <a:pt x="0" y="71500"/>
                </a:lnTo>
                <a:lnTo>
                  <a:pt x="0" y="309499"/>
                </a:lnTo>
                <a:lnTo>
                  <a:pt x="5624" y="337333"/>
                </a:lnTo>
                <a:lnTo>
                  <a:pt x="20961" y="360060"/>
                </a:lnTo>
                <a:lnTo>
                  <a:pt x="43709" y="375382"/>
                </a:lnTo>
                <a:lnTo>
                  <a:pt x="71564" y="381000"/>
                </a:lnTo>
                <a:lnTo>
                  <a:pt x="964819" y="381000"/>
                </a:lnTo>
                <a:lnTo>
                  <a:pt x="992653" y="375382"/>
                </a:lnTo>
                <a:lnTo>
                  <a:pt x="1015380" y="360060"/>
                </a:lnTo>
                <a:lnTo>
                  <a:pt x="1030702" y="337333"/>
                </a:lnTo>
                <a:lnTo>
                  <a:pt x="1036319" y="309499"/>
                </a:lnTo>
                <a:lnTo>
                  <a:pt x="1036319" y="71500"/>
                </a:lnTo>
                <a:lnTo>
                  <a:pt x="1030702" y="43666"/>
                </a:lnTo>
                <a:lnTo>
                  <a:pt x="1015380" y="20939"/>
                </a:lnTo>
                <a:lnTo>
                  <a:pt x="992653" y="5617"/>
                </a:lnTo>
                <a:lnTo>
                  <a:pt x="964819" y="0"/>
                </a:lnTo>
                <a:close/>
              </a:path>
            </a:pathLst>
          </a:custGeom>
          <a:solidFill>
            <a:srgbClr val="001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88235" y="812291"/>
            <a:ext cx="2578735" cy="393700"/>
          </a:xfrm>
          <a:custGeom>
            <a:avLst/>
            <a:gdLst/>
            <a:ahLst/>
            <a:cxnLst/>
            <a:rect l="l" t="t" r="r" b="b"/>
            <a:pathLst>
              <a:path w="2578735" h="393700">
                <a:moveTo>
                  <a:pt x="0" y="70992"/>
                </a:moveTo>
                <a:lnTo>
                  <a:pt x="5574" y="43344"/>
                </a:lnTo>
                <a:lnTo>
                  <a:pt x="20780" y="20780"/>
                </a:lnTo>
                <a:lnTo>
                  <a:pt x="43344" y="5574"/>
                </a:lnTo>
                <a:lnTo>
                  <a:pt x="70993" y="0"/>
                </a:lnTo>
                <a:lnTo>
                  <a:pt x="2507615" y="0"/>
                </a:lnTo>
                <a:lnTo>
                  <a:pt x="2535263" y="5574"/>
                </a:lnTo>
                <a:lnTo>
                  <a:pt x="2557827" y="20780"/>
                </a:lnTo>
                <a:lnTo>
                  <a:pt x="2573033" y="43344"/>
                </a:lnTo>
                <a:lnTo>
                  <a:pt x="2578608" y="70992"/>
                </a:lnTo>
                <a:lnTo>
                  <a:pt x="2578608" y="322199"/>
                </a:lnTo>
                <a:lnTo>
                  <a:pt x="2573033" y="349847"/>
                </a:lnTo>
                <a:lnTo>
                  <a:pt x="2557827" y="372411"/>
                </a:lnTo>
                <a:lnTo>
                  <a:pt x="2535263" y="387617"/>
                </a:lnTo>
                <a:lnTo>
                  <a:pt x="2507615" y="393191"/>
                </a:lnTo>
                <a:lnTo>
                  <a:pt x="70993" y="393191"/>
                </a:lnTo>
                <a:lnTo>
                  <a:pt x="43344" y="387617"/>
                </a:lnTo>
                <a:lnTo>
                  <a:pt x="20780" y="372411"/>
                </a:lnTo>
                <a:lnTo>
                  <a:pt x="5574" y="349847"/>
                </a:lnTo>
                <a:lnTo>
                  <a:pt x="0" y="322199"/>
                </a:lnTo>
                <a:lnTo>
                  <a:pt x="0" y="70992"/>
                </a:lnTo>
                <a:close/>
              </a:path>
            </a:pathLst>
          </a:custGeom>
          <a:ln w="9144">
            <a:solidFill>
              <a:srgbClr val="5F9D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56894" y="895603"/>
            <a:ext cx="34677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5225" algn="l"/>
              </a:tabLst>
            </a:pPr>
            <a:r>
              <a:rPr sz="1300" spc="65" dirty="0">
                <a:solidFill>
                  <a:srgbClr val="E1E6E9"/>
                </a:solidFill>
                <a:latin typeface="Segoe UI Symbol"/>
                <a:cs typeface="Segoe UI Symbol"/>
              </a:rPr>
              <a:t>SOURCES</a:t>
            </a:r>
            <a:r>
              <a:rPr sz="1300" dirty="0">
                <a:solidFill>
                  <a:srgbClr val="E1E6E9"/>
                </a:solidFill>
                <a:latin typeface="Segoe UI Symbol"/>
                <a:cs typeface="Segoe UI Symbol"/>
              </a:rPr>
              <a:t>	</a:t>
            </a:r>
            <a:r>
              <a:rPr sz="1300" spc="120" dirty="0">
                <a:solidFill>
                  <a:srgbClr val="5F9DFF"/>
                </a:solidFill>
                <a:latin typeface="Segoe UI Symbol"/>
                <a:cs typeface="Segoe UI Symbol"/>
              </a:rPr>
              <a:t>ACTUALITÉS</a:t>
            </a:r>
            <a:r>
              <a:rPr sz="1300" spc="95" dirty="0">
                <a:solidFill>
                  <a:srgbClr val="5F9DFF"/>
                </a:solidFill>
                <a:latin typeface="Segoe UI Symbol"/>
                <a:cs typeface="Segoe UI Symbol"/>
              </a:rPr>
              <a:t> </a:t>
            </a:r>
            <a:r>
              <a:rPr sz="1300" spc="114" dirty="0">
                <a:solidFill>
                  <a:srgbClr val="5F9DFF"/>
                </a:solidFill>
                <a:latin typeface="Segoe UI Symbol"/>
                <a:cs typeface="Segoe UI Symbol"/>
              </a:rPr>
              <a:t>SPÉCIALISÉES</a:t>
            </a:r>
            <a:endParaRPr sz="130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29792" y="1233881"/>
            <a:ext cx="10660380" cy="659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150" spc="265" dirty="0"/>
              <a:t>Rester</a:t>
            </a:r>
            <a:r>
              <a:rPr sz="4150" spc="-110" dirty="0"/>
              <a:t> </a:t>
            </a:r>
            <a:r>
              <a:rPr sz="4150" spc="355" dirty="0"/>
              <a:t>Informé</a:t>
            </a:r>
            <a:r>
              <a:rPr sz="4150" spc="-145" dirty="0"/>
              <a:t> </a:t>
            </a:r>
            <a:r>
              <a:rPr sz="4150" spc="520" dirty="0"/>
              <a:t>:</a:t>
            </a:r>
            <a:r>
              <a:rPr sz="4150" spc="-160" dirty="0"/>
              <a:t> </a:t>
            </a:r>
            <a:r>
              <a:rPr sz="4150" spc="350" dirty="0"/>
              <a:t>Les</a:t>
            </a:r>
            <a:r>
              <a:rPr sz="4150" spc="-130" dirty="0"/>
              <a:t> </a:t>
            </a:r>
            <a:r>
              <a:rPr sz="4150" spc="235" dirty="0"/>
              <a:t>Sources</a:t>
            </a:r>
            <a:r>
              <a:rPr sz="4150" spc="-145" dirty="0"/>
              <a:t> </a:t>
            </a:r>
            <a:r>
              <a:rPr sz="4150" spc="285" dirty="0"/>
              <a:t>Essentielles</a:t>
            </a:r>
            <a:endParaRPr sz="4150"/>
          </a:p>
        </p:txBody>
      </p:sp>
      <p:sp>
        <p:nvSpPr>
          <p:cNvPr id="6" name="object 6"/>
          <p:cNvSpPr txBox="1"/>
          <p:nvPr/>
        </p:nvSpPr>
        <p:spPr>
          <a:xfrm>
            <a:off x="729792" y="2163132"/>
            <a:ext cx="12890500" cy="66103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650" spc="75" dirty="0">
                <a:solidFill>
                  <a:srgbClr val="E1E6E9"/>
                </a:solidFill>
                <a:latin typeface="Segoe UI Symbol"/>
                <a:cs typeface="Segoe UI Symbol"/>
              </a:rPr>
              <a:t>Ces</a:t>
            </a:r>
            <a:r>
              <a:rPr sz="1650" spc="-7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10" dirty="0">
                <a:solidFill>
                  <a:srgbClr val="E1E6E9"/>
                </a:solidFill>
                <a:latin typeface="Segoe UI Symbol"/>
                <a:cs typeface="Segoe UI Symbol"/>
              </a:rPr>
              <a:t>sites</a:t>
            </a:r>
            <a:r>
              <a:rPr sz="1650" spc="-5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05" dirty="0">
                <a:solidFill>
                  <a:srgbClr val="E1E6E9"/>
                </a:solidFill>
                <a:latin typeface="Segoe UI Symbol"/>
                <a:cs typeface="Segoe UI Symbol"/>
              </a:rPr>
              <a:t>d'actualités</a:t>
            </a:r>
            <a:r>
              <a:rPr sz="1650" spc="-9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05" dirty="0">
                <a:solidFill>
                  <a:srgbClr val="E1E6E9"/>
                </a:solidFill>
                <a:latin typeface="Segoe UI Symbol"/>
                <a:cs typeface="Segoe UI Symbol"/>
              </a:rPr>
              <a:t>spécialisés</a:t>
            </a:r>
            <a:r>
              <a:rPr sz="165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20" dirty="0">
                <a:solidFill>
                  <a:srgbClr val="E1E6E9"/>
                </a:solidFill>
                <a:latin typeface="Segoe UI Symbol"/>
                <a:cs typeface="Segoe UI Symbol"/>
              </a:rPr>
              <a:t>offrent</a:t>
            </a:r>
            <a:r>
              <a:rPr sz="1650" spc="-10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00" dirty="0">
                <a:solidFill>
                  <a:srgbClr val="E1E6E9"/>
                </a:solidFill>
                <a:latin typeface="Segoe UI Symbol"/>
                <a:cs typeface="Segoe UI Symbol"/>
              </a:rPr>
              <a:t>une</a:t>
            </a:r>
            <a:r>
              <a:rPr sz="1650" spc="-6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00" dirty="0">
                <a:solidFill>
                  <a:srgbClr val="E1E6E9"/>
                </a:solidFill>
                <a:latin typeface="Segoe UI Symbol"/>
                <a:cs typeface="Segoe UI Symbol"/>
              </a:rPr>
              <a:t>couverture</a:t>
            </a:r>
            <a:r>
              <a:rPr sz="1650" spc="-12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90" dirty="0">
                <a:solidFill>
                  <a:srgbClr val="E1E6E9"/>
                </a:solidFill>
                <a:latin typeface="Segoe UI Symbol"/>
                <a:cs typeface="Segoe UI Symbol"/>
              </a:rPr>
              <a:t>complète</a:t>
            </a:r>
            <a:r>
              <a:rPr sz="165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70" dirty="0">
                <a:solidFill>
                  <a:srgbClr val="E1E6E9"/>
                </a:solidFill>
                <a:latin typeface="Segoe UI Symbol"/>
                <a:cs typeface="Segoe UI Symbol"/>
              </a:rPr>
              <a:t>et</a:t>
            </a:r>
            <a:r>
              <a:rPr sz="1650" spc="-8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95" dirty="0">
                <a:solidFill>
                  <a:srgbClr val="E1E6E9"/>
                </a:solidFill>
                <a:latin typeface="Segoe UI Symbol"/>
                <a:cs typeface="Segoe UI Symbol"/>
              </a:rPr>
              <a:t>fiable</a:t>
            </a:r>
            <a:r>
              <a:rPr sz="1650" spc="-6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dirty="0">
                <a:solidFill>
                  <a:srgbClr val="E1E6E9"/>
                </a:solidFill>
                <a:latin typeface="Segoe UI Symbol"/>
                <a:cs typeface="Segoe UI Symbol"/>
              </a:rPr>
              <a:t>de</a:t>
            </a:r>
            <a:r>
              <a:rPr sz="165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40" dirty="0">
                <a:solidFill>
                  <a:srgbClr val="E1E6E9"/>
                </a:solidFill>
                <a:latin typeface="Segoe UI Symbol"/>
                <a:cs typeface="Segoe UI Symbol"/>
              </a:rPr>
              <a:t>l'univers</a:t>
            </a:r>
            <a:r>
              <a:rPr sz="1650" spc="-9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75" dirty="0">
                <a:solidFill>
                  <a:srgbClr val="E1E6E9"/>
                </a:solidFill>
                <a:latin typeface="Segoe UI Symbol"/>
                <a:cs typeface="Segoe UI Symbol"/>
              </a:rPr>
              <a:t>des</a:t>
            </a:r>
            <a:r>
              <a:rPr sz="1650" spc="-5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05" dirty="0">
                <a:solidFill>
                  <a:srgbClr val="E1E6E9"/>
                </a:solidFill>
                <a:latin typeface="Segoe UI Symbol"/>
                <a:cs typeface="Segoe UI Symbol"/>
              </a:rPr>
              <a:t>véhicules</a:t>
            </a:r>
            <a:r>
              <a:rPr sz="1650" spc="-10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14" dirty="0">
                <a:solidFill>
                  <a:srgbClr val="E1E6E9"/>
                </a:solidFill>
                <a:latin typeface="Segoe UI Symbol"/>
                <a:cs typeface="Segoe UI Symbol"/>
              </a:rPr>
              <a:t>autonomes,</a:t>
            </a:r>
            <a:r>
              <a:rPr sz="1650" spc="-12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75" dirty="0">
                <a:solidFill>
                  <a:srgbClr val="E1E6E9"/>
                </a:solidFill>
                <a:latin typeface="Segoe UI Symbol"/>
                <a:cs typeface="Segoe UI Symbol"/>
              </a:rPr>
              <a:t>des</a:t>
            </a:r>
            <a:r>
              <a:rPr sz="1650" spc="-7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14" dirty="0">
                <a:solidFill>
                  <a:srgbClr val="E1E6E9"/>
                </a:solidFill>
                <a:latin typeface="Segoe UI Symbol"/>
                <a:cs typeface="Segoe UI Symbol"/>
              </a:rPr>
              <a:t>startups</a:t>
            </a:r>
            <a:endParaRPr sz="16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650" spc="135" dirty="0">
                <a:solidFill>
                  <a:srgbClr val="E1E6E9"/>
                </a:solidFill>
                <a:latin typeface="Segoe UI Symbol"/>
                <a:cs typeface="Segoe UI Symbol"/>
              </a:rPr>
              <a:t>aux</a:t>
            </a:r>
            <a:r>
              <a:rPr sz="1650" spc="-8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95" dirty="0">
                <a:solidFill>
                  <a:srgbClr val="E1E6E9"/>
                </a:solidFill>
                <a:latin typeface="Segoe UI Symbol"/>
                <a:cs typeface="Segoe UI Symbol"/>
              </a:rPr>
              <a:t>grandes</a:t>
            </a:r>
            <a:r>
              <a:rPr sz="1650" spc="-10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10" dirty="0">
                <a:solidFill>
                  <a:srgbClr val="E1E6E9"/>
                </a:solidFill>
                <a:latin typeface="Segoe UI Symbol"/>
                <a:cs typeface="Segoe UI Symbol"/>
              </a:rPr>
              <a:t>entreprises</a:t>
            </a:r>
            <a:r>
              <a:rPr sz="1650" spc="-12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75" dirty="0">
                <a:solidFill>
                  <a:srgbClr val="E1E6E9"/>
                </a:solidFill>
                <a:latin typeface="Segoe UI Symbol"/>
                <a:cs typeface="Segoe UI Symbol"/>
              </a:rPr>
              <a:t>technologiques.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3712" y="3102864"/>
            <a:ext cx="13143230" cy="15240"/>
          </a:xfrm>
          <a:custGeom>
            <a:avLst/>
            <a:gdLst/>
            <a:ahLst/>
            <a:cxnLst/>
            <a:rect l="l" t="t" r="r" b="b"/>
            <a:pathLst>
              <a:path w="13143230" h="15239">
                <a:moveTo>
                  <a:pt x="13142976" y="0"/>
                </a:moveTo>
                <a:lnTo>
                  <a:pt x="0" y="0"/>
                </a:lnTo>
                <a:lnTo>
                  <a:pt x="0" y="15239"/>
                </a:lnTo>
                <a:lnTo>
                  <a:pt x="13142976" y="15239"/>
                </a:lnTo>
                <a:lnTo>
                  <a:pt x="13142976" y="0"/>
                </a:lnTo>
                <a:close/>
              </a:path>
            </a:pathLst>
          </a:custGeom>
          <a:solidFill>
            <a:srgbClr val="E1E6E9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31519" y="3998976"/>
            <a:ext cx="4282440" cy="3432175"/>
            <a:chOff x="731519" y="3998976"/>
            <a:chExt cx="4282440" cy="3432175"/>
          </a:xfrm>
        </p:grpSpPr>
        <p:sp>
          <p:nvSpPr>
            <p:cNvPr id="9" name="object 9"/>
            <p:cNvSpPr/>
            <p:nvPr/>
          </p:nvSpPr>
          <p:spPr>
            <a:xfrm>
              <a:off x="743711" y="4011168"/>
              <a:ext cx="4258310" cy="3408045"/>
            </a:xfrm>
            <a:custGeom>
              <a:avLst/>
              <a:gdLst/>
              <a:ahLst/>
              <a:cxnLst/>
              <a:rect l="l" t="t" r="r" b="b"/>
              <a:pathLst>
                <a:path w="4258310" h="3408045">
                  <a:moveTo>
                    <a:pt x="4169029" y="0"/>
                  </a:moveTo>
                  <a:lnTo>
                    <a:pt x="89077" y="0"/>
                  </a:lnTo>
                  <a:lnTo>
                    <a:pt x="54403" y="6998"/>
                  </a:lnTo>
                  <a:lnTo>
                    <a:pt x="26088" y="26082"/>
                  </a:lnTo>
                  <a:lnTo>
                    <a:pt x="6999" y="54381"/>
                  </a:lnTo>
                  <a:lnTo>
                    <a:pt x="0" y="89027"/>
                  </a:lnTo>
                  <a:lnTo>
                    <a:pt x="0" y="3318586"/>
                  </a:lnTo>
                  <a:lnTo>
                    <a:pt x="6999" y="3353260"/>
                  </a:lnTo>
                  <a:lnTo>
                    <a:pt x="26088" y="3381575"/>
                  </a:lnTo>
                  <a:lnTo>
                    <a:pt x="54403" y="3400664"/>
                  </a:lnTo>
                  <a:lnTo>
                    <a:pt x="89077" y="3407664"/>
                  </a:lnTo>
                  <a:lnTo>
                    <a:pt x="4169029" y="3407664"/>
                  </a:lnTo>
                  <a:lnTo>
                    <a:pt x="4203674" y="3400664"/>
                  </a:lnTo>
                  <a:lnTo>
                    <a:pt x="4231973" y="3381575"/>
                  </a:lnTo>
                  <a:lnTo>
                    <a:pt x="4251057" y="3353260"/>
                  </a:lnTo>
                  <a:lnTo>
                    <a:pt x="4258056" y="3318586"/>
                  </a:lnTo>
                  <a:lnTo>
                    <a:pt x="4258056" y="89027"/>
                  </a:lnTo>
                  <a:lnTo>
                    <a:pt x="4251057" y="54381"/>
                  </a:lnTo>
                  <a:lnTo>
                    <a:pt x="4231973" y="26082"/>
                  </a:lnTo>
                  <a:lnTo>
                    <a:pt x="4203674" y="6998"/>
                  </a:lnTo>
                  <a:lnTo>
                    <a:pt x="4169029" y="0"/>
                  </a:lnTo>
                  <a:close/>
                </a:path>
              </a:pathLst>
            </a:custGeom>
            <a:solidFill>
              <a:srgbClr val="09151A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3711" y="4011168"/>
              <a:ext cx="4258310" cy="3408045"/>
            </a:xfrm>
            <a:custGeom>
              <a:avLst/>
              <a:gdLst/>
              <a:ahLst/>
              <a:cxnLst/>
              <a:rect l="l" t="t" r="r" b="b"/>
              <a:pathLst>
                <a:path w="4258310" h="3408045">
                  <a:moveTo>
                    <a:pt x="0" y="89027"/>
                  </a:moveTo>
                  <a:lnTo>
                    <a:pt x="6999" y="54381"/>
                  </a:lnTo>
                  <a:lnTo>
                    <a:pt x="26088" y="26082"/>
                  </a:lnTo>
                  <a:lnTo>
                    <a:pt x="54403" y="6998"/>
                  </a:lnTo>
                  <a:lnTo>
                    <a:pt x="89077" y="0"/>
                  </a:lnTo>
                  <a:lnTo>
                    <a:pt x="4169029" y="0"/>
                  </a:lnTo>
                  <a:lnTo>
                    <a:pt x="4203674" y="6998"/>
                  </a:lnTo>
                  <a:lnTo>
                    <a:pt x="4231973" y="26082"/>
                  </a:lnTo>
                  <a:lnTo>
                    <a:pt x="4251057" y="54381"/>
                  </a:lnTo>
                  <a:lnTo>
                    <a:pt x="4258056" y="89027"/>
                  </a:lnTo>
                  <a:lnTo>
                    <a:pt x="4258056" y="3318586"/>
                  </a:lnTo>
                  <a:lnTo>
                    <a:pt x="4251057" y="3353260"/>
                  </a:lnTo>
                  <a:lnTo>
                    <a:pt x="4231973" y="3381575"/>
                  </a:lnTo>
                  <a:lnTo>
                    <a:pt x="4203674" y="3400664"/>
                  </a:lnTo>
                  <a:lnTo>
                    <a:pt x="4169029" y="3407664"/>
                  </a:lnTo>
                  <a:lnTo>
                    <a:pt x="89077" y="3407664"/>
                  </a:lnTo>
                  <a:lnTo>
                    <a:pt x="54403" y="3400664"/>
                  </a:lnTo>
                  <a:lnTo>
                    <a:pt x="26088" y="3381575"/>
                  </a:lnTo>
                  <a:lnTo>
                    <a:pt x="6999" y="3353260"/>
                  </a:lnTo>
                  <a:lnTo>
                    <a:pt x="0" y="3318586"/>
                  </a:lnTo>
                  <a:lnTo>
                    <a:pt x="0" y="89027"/>
                  </a:lnTo>
                  <a:close/>
                </a:path>
              </a:pathLst>
            </a:custGeom>
            <a:ln w="24384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5047" y="4035552"/>
              <a:ext cx="4215765" cy="210820"/>
            </a:xfrm>
            <a:custGeom>
              <a:avLst/>
              <a:gdLst/>
              <a:ahLst/>
              <a:cxnLst/>
              <a:rect l="l" t="t" r="r" b="b"/>
              <a:pathLst>
                <a:path w="4215765" h="210820">
                  <a:moveTo>
                    <a:pt x="4154169" y="0"/>
                  </a:moveTo>
                  <a:lnTo>
                    <a:pt x="61150" y="0"/>
                  </a:lnTo>
                  <a:lnTo>
                    <a:pt x="37349" y="4814"/>
                  </a:lnTo>
                  <a:lnTo>
                    <a:pt x="17911" y="17938"/>
                  </a:lnTo>
                  <a:lnTo>
                    <a:pt x="4805" y="37397"/>
                  </a:lnTo>
                  <a:lnTo>
                    <a:pt x="0" y="61213"/>
                  </a:lnTo>
                  <a:lnTo>
                    <a:pt x="0" y="149098"/>
                  </a:lnTo>
                  <a:lnTo>
                    <a:pt x="4805" y="172914"/>
                  </a:lnTo>
                  <a:lnTo>
                    <a:pt x="17911" y="192373"/>
                  </a:lnTo>
                  <a:lnTo>
                    <a:pt x="37349" y="205497"/>
                  </a:lnTo>
                  <a:lnTo>
                    <a:pt x="61150" y="210312"/>
                  </a:lnTo>
                  <a:lnTo>
                    <a:pt x="4154169" y="210312"/>
                  </a:lnTo>
                  <a:lnTo>
                    <a:pt x="4177986" y="205497"/>
                  </a:lnTo>
                  <a:lnTo>
                    <a:pt x="4197445" y="192373"/>
                  </a:lnTo>
                  <a:lnTo>
                    <a:pt x="4210569" y="172914"/>
                  </a:lnTo>
                  <a:lnTo>
                    <a:pt x="4215384" y="149098"/>
                  </a:lnTo>
                  <a:lnTo>
                    <a:pt x="4215384" y="61213"/>
                  </a:lnTo>
                  <a:lnTo>
                    <a:pt x="4210569" y="37397"/>
                  </a:lnTo>
                  <a:lnTo>
                    <a:pt x="4197445" y="17938"/>
                  </a:lnTo>
                  <a:lnTo>
                    <a:pt x="4177986" y="4814"/>
                  </a:lnTo>
                  <a:lnTo>
                    <a:pt x="4154169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64793" y="4406265"/>
            <a:ext cx="3740150" cy="21304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145" dirty="0">
                <a:solidFill>
                  <a:srgbClr val="E1E6E9"/>
                </a:solidFill>
                <a:latin typeface="Segoe UI Symbol"/>
                <a:cs typeface="Segoe UI Symbol"/>
              </a:rPr>
              <a:t>TechCrunch</a:t>
            </a:r>
            <a:r>
              <a:rPr sz="2050" spc="-2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2050" spc="120" dirty="0">
                <a:solidFill>
                  <a:srgbClr val="E1E6E9"/>
                </a:solidFill>
                <a:latin typeface="Segoe UI Symbol"/>
                <a:cs typeface="Segoe UI Symbol"/>
              </a:rPr>
              <a:t>Mobility</a:t>
            </a:r>
            <a:endParaRPr sz="2050">
              <a:latin typeface="Segoe UI Symbol"/>
              <a:cs typeface="Segoe UI Symbol"/>
            </a:endParaRPr>
          </a:p>
          <a:p>
            <a:pPr marL="12700" marR="5080">
              <a:lnSpc>
                <a:spcPct val="126499"/>
              </a:lnSpc>
              <a:spcBef>
                <a:spcPts val="815"/>
              </a:spcBef>
            </a:pPr>
            <a:r>
              <a:rPr sz="1650" spc="100" dirty="0">
                <a:solidFill>
                  <a:srgbClr val="E1E6E9"/>
                </a:solidFill>
                <a:latin typeface="Segoe UI Symbol"/>
                <a:cs typeface="Segoe UI Symbol"/>
              </a:rPr>
              <a:t>Actualités</a:t>
            </a:r>
            <a:r>
              <a:rPr sz="1650" spc="-10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35" dirty="0">
                <a:solidFill>
                  <a:srgbClr val="E1E6E9"/>
                </a:solidFill>
                <a:latin typeface="Segoe UI Symbol"/>
                <a:cs typeface="Segoe UI Symbol"/>
              </a:rPr>
              <a:t>sur</a:t>
            </a:r>
            <a:r>
              <a:rPr sz="165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05" dirty="0">
                <a:solidFill>
                  <a:srgbClr val="E1E6E9"/>
                </a:solidFill>
                <a:latin typeface="Segoe UI Symbol"/>
                <a:cs typeface="Segoe UI Symbol"/>
              </a:rPr>
              <a:t>les</a:t>
            </a:r>
            <a:r>
              <a:rPr sz="1650" spc="-7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14" dirty="0">
                <a:solidFill>
                  <a:srgbClr val="E1E6E9"/>
                </a:solidFill>
                <a:latin typeface="Segoe UI Symbol"/>
                <a:cs typeface="Segoe UI Symbol"/>
              </a:rPr>
              <a:t>startups</a:t>
            </a:r>
            <a:r>
              <a:rPr sz="165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45" dirty="0">
                <a:solidFill>
                  <a:srgbClr val="E1E6E9"/>
                </a:solidFill>
                <a:latin typeface="Segoe UI Symbol"/>
                <a:cs typeface="Segoe UI Symbol"/>
              </a:rPr>
              <a:t>et </a:t>
            </a:r>
            <a:r>
              <a:rPr sz="1650" spc="114" dirty="0">
                <a:solidFill>
                  <a:srgbClr val="E1E6E9"/>
                </a:solidFill>
                <a:latin typeface="Segoe UI Symbol"/>
                <a:cs typeface="Segoe UI Symbol"/>
              </a:rPr>
              <a:t>innovations</a:t>
            </a:r>
            <a:r>
              <a:rPr sz="1650" spc="-9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05" dirty="0">
                <a:solidFill>
                  <a:srgbClr val="E1E6E9"/>
                </a:solidFill>
                <a:latin typeface="Segoe UI Symbol"/>
                <a:cs typeface="Segoe UI Symbol"/>
              </a:rPr>
              <a:t>dans</a:t>
            </a:r>
            <a:r>
              <a:rPr sz="1650" spc="-4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90" dirty="0">
                <a:solidFill>
                  <a:srgbClr val="E1E6E9"/>
                </a:solidFill>
                <a:latin typeface="Segoe UI Symbol"/>
                <a:cs typeface="Segoe UI Symbol"/>
              </a:rPr>
              <a:t>le</a:t>
            </a:r>
            <a:r>
              <a:rPr sz="1650" spc="-6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10" dirty="0">
                <a:solidFill>
                  <a:srgbClr val="E1E6E9"/>
                </a:solidFill>
                <a:latin typeface="Segoe UI Symbol"/>
                <a:cs typeface="Segoe UI Symbol"/>
              </a:rPr>
              <a:t>transport.</a:t>
            </a:r>
            <a:r>
              <a:rPr sz="1650" spc="-10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00" dirty="0">
                <a:solidFill>
                  <a:srgbClr val="E1E6E9"/>
                </a:solidFill>
                <a:latin typeface="Segoe UI Symbol"/>
                <a:cs typeface="Segoe UI Symbol"/>
              </a:rPr>
              <a:t>Idéal </a:t>
            </a:r>
            <a:r>
              <a:rPr sz="1650" spc="95" dirty="0">
                <a:solidFill>
                  <a:srgbClr val="E1E6E9"/>
                </a:solidFill>
                <a:latin typeface="Segoe UI Symbol"/>
                <a:cs typeface="Segoe UI Symbol"/>
              </a:rPr>
              <a:t>pour</a:t>
            </a:r>
            <a:r>
              <a:rPr sz="1650" spc="-6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20" dirty="0">
                <a:solidFill>
                  <a:srgbClr val="E1E6E9"/>
                </a:solidFill>
                <a:latin typeface="Segoe UI Symbol"/>
                <a:cs typeface="Segoe UI Symbol"/>
              </a:rPr>
              <a:t>suivre</a:t>
            </a:r>
            <a:r>
              <a:rPr sz="1650" spc="-9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05" dirty="0">
                <a:solidFill>
                  <a:srgbClr val="E1E6E9"/>
                </a:solidFill>
                <a:latin typeface="Segoe UI Symbol"/>
                <a:cs typeface="Segoe UI Symbol"/>
              </a:rPr>
              <a:t>les</a:t>
            </a:r>
            <a:r>
              <a:rPr sz="1650" spc="-6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90" dirty="0">
                <a:solidFill>
                  <a:srgbClr val="E1E6E9"/>
                </a:solidFill>
                <a:latin typeface="Segoe UI Symbol"/>
                <a:cs typeface="Segoe UI Symbol"/>
              </a:rPr>
              <a:t>levées</a:t>
            </a:r>
            <a:r>
              <a:rPr sz="165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dirty="0">
                <a:solidFill>
                  <a:srgbClr val="E1E6E9"/>
                </a:solidFill>
                <a:latin typeface="Segoe UI Symbol"/>
                <a:cs typeface="Segoe UI Symbol"/>
              </a:rPr>
              <a:t>de</a:t>
            </a:r>
            <a:r>
              <a:rPr sz="1650" spc="-6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05" dirty="0">
                <a:solidFill>
                  <a:srgbClr val="E1E6E9"/>
                </a:solidFill>
                <a:latin typeface="Segoe UI Symbol"/>
                <a:cs typeface="Segoe UI Symbol"/>
              </a:rPr>
              <a:t>fonds</a:t>
            </a:r>
            <a:r>
              <a:rPr sz="165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70" dirty="0">
                <a:solidFill>
                  <a:srgbClr val="E1E6E9"/>
                </a:solidFill>
                <a:latin typeface="Segoe UI Symbol"/>
                <a:cs typeface="Segoe UI Symbol"/>
              </a:rPr>
              <a:t>et</a:t>
            </a:r>
            <a:r>
              <a:rPr sz="1650" spc="-7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80" dirty="0">
                <a:solidFill>
                  <a:srgbClr val="E1E6E9"/>
                </a:solidFill>
                <a:latin typeface="Segoe UI Symbol"/>
                <a:cs typeface="Segoe UI Symbol"/>
              </a:rPr>
              <a:t>les </a:t>
            </a:r>
            <a:r>
              <a:rPr sz="1650" spc="105" dirty="0">
                <a:solidFill>
                  <a:srgbClr val="E1E6E9"/>
                </a:solidFill>
                <a:latin typeface="Segoe UI Symbol"/>
                <a:cs typeface="Segoe UI Symbol"/>
              </a:rPr>
              <a:t>nouvelles</a:t>
            </a:r>
            <a:r>
              <a:rPr sz="1650" spc="-8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85" dirty="0">
                <a:solidFill>
                  <a:srgbClr val="E1E6E9"/>
                </a:solidFill>
                <a:latin typeface="Segoe UI Symbol"/>
                <a:cs typeface="Segoe UI Symbol"/>
              </a:rPr>
              <a:t>technologies</a:t>
            </a:r>
            <a:r>
              <a:rPr sz="1650" spc="-8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85" dirty="0">
                <a:solidFill>
                  <a:srgbClr val="E1E6E9"/>
                </a:solidFill>
                <a:latin typeface="Segoe UI Symbol"/>
                <a:cs typeface="Segoe UI Symbol"/>
              </a:rPr>
              <a:t>émergentes.</a:t>
            </a:r>
            <a:endParaRPr sz="16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650" u="sng" spc="10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 Symbol"/>
                <a:cs typeface="Segoe UI Symbol"/>
                <a:hlinkClick r:id="rId2"/>
              </a:rPr>
              <a:t>https://techcrunch.com/mobility</a:t>
            </a:r>
            <a:endParaRPr sz="1650">
              <a:latin typeface="Segoe UI Symbol"/>
              <a:cs typeface="Segoe UI Symbo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72455" y="3681984"/>
            <a:ext cx="4285615" cy="3749040"/>
            <a:chOff x="5172455" y="3681984"/>
            <a:chExt cx="4285615" cy="3749040"/>
          </a:xfrm>
        </p:grpSpPr>
        <p:sp>
          <p:nvSpPr>
            <p:cNvPr id="14" name="object 14"/>
            <p:cNvSpPr/>
            <p:nvPr/>
          </p:nvSpPr>
          <p:spPr>
            <a:xfrm>
              <a:off x="5184647" y="3694176"/>
              <a:ext cx="4261485" cy="3724910"/>
            </a:xfrm>
            <a:custGeom>
              <a:avLst/>
              <a:gdLst/>
              <a:ahLst/>
              <a:cxnLst/>
              <a:rect l="l" t="t" r="r" b="b"/>
              <a:pathLst>
                <a:path w="4261484" h="3724909">
                  <a:moveTo>
                    <a:pt x="4172077" y="0"/>
                  </a:moveTo>
                  <a:lnTo>
                    <a:pt x="89026" y="0"/>
                  </a:lnTo>
                  <a:lnTo>
                    <a:pt x="54381" y="6998"/>
                  </a:lnTo>
                  <a:lnTo>
                    <a:pt x="26082" y="26082"/>
                  </a:lnTo>
                  <a:lnTo>
                    <a:pt x="6998" y="54381"/>
                  </a:lnTo>
                  <a:lnTo>
                    <a:pt x="0" y="89026"/>
                  </a:lnTo>
                  <a:lnTo>
                    <a:pt x="0" y="3635603"/>
                  </a:lnTo>
                  <a:lnTo>
                    <a:pt x="6998" y="3670263"/>
                  </a:lnTo>
                  <a:lnTo>
                    <a:pt x="26082" y="3698570"/>
                  </a:lnTo>
                  <a:lnTo>
                    <a:pt x="54381" y="3717656"/>
                  </a:lnTo>
                  <a:lnTo>
                    <a:pt x="89026" y="3724655"/>
                  </a:lnTo>
                  <a:lnTo>
                    <a:pt x="4172077" y="3724655"/>
                  </a:lnTo>
                  <a:lnTo>
                    <a:pt x="4206722" y="3717656"/>
                  </a:lnTo>
                  <a:lnTo>
                    <a:pt x="4235021" y="3698570"/>
                  </a:lnTo>
                  <a:lnTo>
                    <a:pt x="4254105" y="3670263"/>
                  </a:lnTo>
                  <a:lnTo>
                    <a:pt x="4261104" y="3635603"/>
                  </a:lnTo>
                  <a:lnTo>
                    <a:pt x="4261104" y="89026"/>
                  </a:lnTo>
                  <a:lnTo>
                    <a:pt x="4254105" y="54381"/>
                  </a:lnTo>
                  <a:lnTo>
                    <a:pt x="4235021" y="26082"/>
                  </a:lnTo>
                  <a:lnTo>
                    <a:pt x="4206722" y="6998"/>
                  </a:lnTo>
                  <a:lnTo>
                    <a:pt x="4172077" y="0"/>
                  </a:lnTo>
                  <a:close/>
                </a:path>
              </a:pathLst>
            </a:custGeom>
            <a:solidFill>
              <a:srgbClr val="09151A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84647" y="3694176"/>
              <a:ext cx="4261485" cy="3724910"/>
            </a:xfrm>
            <a:custGeom>
              <a:avLst/>
              <a:gdLst/>
              <a:ahLst/>
              <a:cxnLst/>
              <a:rect l="l" t="t" r="r" b="b"/>
              <a:pathLst>
                <a:path w="4261484" h="3724909">
                  <a:moveTo>
                    <a:pt x="0" y="89026"/>
                  </a:moveTo>
                  <a:lnTo>
                    <a:pt x="6998" y="54381"/>
                  </a:lnTo>
                  <a:lnTo>
                    <a:pt x="26082" y="26082"/>
                  </a:lnTo>
                  <a:lnTo>
                    <a:pt x="54381" y="6998"/>
                  </a:lnTo>
                  <a:lnTo>
                    <a:pt x="89026" y="0"/>
                  </a:lnTo>
                  <a:lnTo>
                    <a:pt x="4172077" y="0"/>
                  </a:lnTo>
                  <a:lnTo>
                    <a:pt x="4206722" y="6998"/>
                  </a:lnTo>
                  <a:lnTo>
                    <a:pt x="4235021" y="26082"/>
                  </a:lnTo>
                  <a:lnTo>
                    <a:pt x="4254105" y="54381"/>
                  </a:lnTo>
                  <a:lnTo>
                    <a:pt x="4261104" y="89026"/>
                  </a:lnTo>
                  <a:lnTo>
                    <a:pt x="4261104" y="3635603"/>
                  </a:lnTo>
                  <a:lnTo>
                    <a:pt x="4254105" y="3670263"/>
                  </a:lnTo>
                  <a:lnTo>
                    <a:pt x="4235021" y="3698570"/>
                  </a:lnTo>
                  <a:lnTo>
                    <a:pt x="4206722" y="3717656"/>
                  </a:lnTo>
                  <a:lnTo>
                    <a:pt x="4172077" y="3724655"/>
                  </a:lnTo>
                  <a:lnTo>
                    <a:pt x="89026" y="3724655"/>
                  </a:lnTo>
                  <a:lnTo>
                    <a:pt x="54381" y="3717656"/>
                  </a:lnTo>
                  <a:lnTo>
                    <a:pt x="26082" y="3698570"/>
                  </a:lnTo>
                  <a:lnTo>
                    <a:pt x="6998" y="3670263"/>
                  </a:lnTo>
                  <a:lnTo>
                    <a:pt x="0" y="3635603"/>
                  </a:lnTo>
                  <a:lnTo>
                    <a:pt x="0" y="89026"/>
                  </a:lnTo>
                  <a:close/>
                </a:path>
              </a:pathLst>
            </a:custGeom>
            <a:ln w="24384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09031" y="3715512"/>
              <a:ext cx="4212590" cy="213360"/>
            </a:xfrm>
            <a:custGeom>
              <a:avLst/>
              <a:gdLst/>
              <a:ahLst/>
              <a:cxnLst/>
              <a:rect l="l" t="t" r="r" b="b"/>
              <a:pathLst>
                <a:path w="4212590" h="213360">
                  <a:moveTo>
                    <a:pt x="4150360" y="0"/>
                  </a:moveTo>
                  <a:lnTo>
                    <a:pt x="61975" y="0"/>
                  </a:lnTo>
                  <a:lnTo>
                    <a:pt x="37879" y="4879"/>
                  </a:lnTo>
                  <a:lnTo>
                    <a:pt x="18176" y="18176"/>
                  </a:lnTo>
                  <a:lnTo>
                    <a:pt x="4879" y="37879"/>
                  </a:lnTo>
                  <a:lnTo>
                    <a:pt x="0" y="61975"/>
                  </a:lnTo>
                  <a:lnTo>
                    <a:pt x="0" y="151384"/>
                  </a:lnTo>
                  <a:lnTo>
                    <a:pt x="4879" y="175480"/>
                  </a:lnTo>
                  <a:lnTo>
                    <a:pt x="18176" y="195183"/>
                  </a:lnTo>
                  <a:lnTo>
                    <a:pt x="37879" y="208480"/>
                  </a:lnTo>
                  <a:lnTo>
                    <a:pt x="61975" y="213360"/>
                  </a:lnTo>
                  <a:lnTo>
                    <a:pt x="4150360" y="213360"/>
                  </a:lnTo>
                  <a:lnTo>
                    <a:pt x="4174456" y="208480"/>
                  </a:lnTo>
                  <a:lnTo>
                    <a:pt x="4194159" y="195183"/>
                  </a:lnTo>
                  <a:lnTo>
                    <a:pt x="4207456" y="175480"/>
                  </a:lnTo>
                  <a:lnTo>
                    <a:pt x="4212336" y="151384"/>
                  </a:lnTo>
                  <a:lnTo>
                    <a:pt x="4212336" y="61975"/>
                  </a:lnTo>
                  <a:lnTo>
                    <a:pt x="4207456" y="37879"/>
                  </a:lnTo>
                  <a:lnTo>
                    <a:pt x="4194159" y="18176"/>
                  </a:lnTo>
                  <a:lnTo>
                    <a:pt x="4174456" y="4879"/>
                  </a:lnTo>
                  <a:lnTo>
                    <a:pt x="4150360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408421" y="4087443"/>
            <a:ext cx="3794760" cy="3077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120" dirty="0">
                <a:solidFill>
                  <a:srgbClr val="E1E6E9"/>
                </a:solidFill>
                <a:latin typeface="Segoe UI Symbol"/>
                <a:cs typeface="Segoe UI Symbol"/>
              </a:rPr>
              <a:t>Voitures</a:t>
            </a:r>
            <a:r>
              <a:rPr sz="2050" spc="-2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2050" spc="110" dirty="0">
                <a:solidFill>
                  <a:srgbClr val="E1E6E9"/>
                </a:solidFill>
                <a:latin typeface="Segoe UI Symbol"/>
                <a:cs typeface="Segoe UI Symbol"/>
              </a:rPr>
              <a:t>Autonomes</a:t>
            </a:r>
            <a:r>
              <a:rPr sz="2050" spc="-1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2050" spc="210" dirty="0">
                <a:solidFill>
                  <a:srgbClr val="E1E6E9"/>
                </a:solidFill>
                <a:latin typeface="Segoe UI Symbol"/>
                <a:cs typeface="Segoe UI Symbol"/>
              </a:rPr>
              <a:t>FR</a:t>
            </a:r>
            <a:endParaRPr sz="2050">
              <a:latin typeface="Segoe UI Symbol"/>
              <a:cs typeface="Segoe UI Symbol"/>
            </a:endParaRPr>
          </a:p>
          <a:p>
            <a:pPr marL="12700" marR="110489">
              <a:lnSpc>
                <a:spcPct val="126299"/>
              </a:lnSpc>
              <a:spcBef>
                <a:spcPts val="819"/>
              </a:spcBef>
            </a:pPr>
            <a:r>
              <a:rPr sz="1650" spc="90" dirty="0">
                <a:solidFill>
                  <a:srgbClr val="E1E6E9"/>
                </a:solidFill>
                <a:latin typeface="Segoe UI Symbol"/>
                <a:cs typeface="Segoe UI Symbol"/>
              </a:rPr>
              <a:t>Média</a:t>
            </a:r>
            <a:r>
              <a:rPr sz="165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95" dirty="0">
                <a:solidFill>
                  <a:srgbClr val="E1E6E9"/>
                </a:solidFill>
                <a:latin typeface="Segoe UI Symbol"/>
                <a:cs typeface="Segoe UI Symbol"/>
              </a:rPr>
              <a:t>indépendant</a:t>
            </a:r>
            <a:r>
              <a:rPr sz="1650" spc="-10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25" dirty="0">
                <a:solidFill>
                  <a:srgbClr val="E1E6E9"/>
                </a:solidFill>
                <a:latin typeface="Segoe UI Symbol"/>
                <a:cs typeface="Segoe UI Symbol"/>
              </a:rPr>
              <a:t>français</a:t>
            </a:r>
            <a:r>
              <a:rPr sz="1650" spc="-10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60" dirty="0">
                <a:solidFill>
                  <a:srgbClr val="E1E6E9"/>
                </a:solidFill>
                <a:latin typeface="Segoe UI Symbol"/>
                <a:cs typeface="Segoe UI Symbol"/>
              </a:rPr>
              <a:t>dédié</a:t>
            </a:r>
            <a:r>
              <a:rPr sz="1650" spc="-6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30" dirty="0">
                <a:solidFill>
                  <a:srgbClr val="E1E6E9"/>
                </a:solidFill>
                <a:latin typeface="Segoe UI Symbol"/>
                <a:cs typeface="Segoe UI Symbol"/>
              </a:rPr>
              <a:t>à </a:t>
            </a:r>
            <a:r>
              <a:rPr sz="1650" spc="125" dirty="0">
                <a:solidFill>
                  <a:srgbClr val="E1E6E9"/>
                </a:solidFill>
                <a:latin typeface="Segoe UI Symbol"/>
                <a:cs typeface="Segoe UI Symbol"/>
              </a:rPr>
              <a:t>l'analyse</a:t>
            </a:r>
            <a:r>
              <a:rPr sz="165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70" dirty="0">
                <a:solidFill>
                  <a:srgbClr val="E1E6E9"/>
                </a:solidFill>
                <a:latin typeface="Segoe UI Symbol"/>
                <a:cs typeface="Segoe UI Symbol"/>
              </a:rPr>
              <a:t>des</a:t>
            </a:r>
            <a:r>
              <a:rPr sz="1650" spc="-5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25" dirty="0">
                <a:solidFill>
                  <a:srgbClr val="E1E6E9"/>
                </a:solidFill>
                <a:latin typeface="Segoe UI Symbol"/>
                <a:cs typeface="Segoe UI Symbol"/>
              </a:rPr>
              <a:t>transformations</a:t>
            </a:r>
            <a:r>
              <a:rPr sz="1650" spc="-12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50" dirty="0">
                <a:solidFill>
                  <a:srgbClr val="E1E6E9"/>
                </a:solidFill>
                <a:latin typeface="Segoe UI Symbol"/>
                <a:cs typeface="Segoe UI Symbol"/>
              </a:rPr>
              <a:t>du </a:t>
            </a:r>
            <a:r>
              <a:rPr sz="1650" spc="95" dirty="0">
                <a:solidFill>
                  <a:srgbClr val="E1E6E9"/>
                </a:solidFill>
                <a:latin typeface="Segoe UI Symbol"/>
                <a:cs typeface="Segoe UI Symbol"/>
              </a:rPr>
              <a:t>secteur</a:t>
            </a:r>
            <a:r>
              <a:rPr sz="1650" spc="-8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95" dirty="0">
                <a:solidFill>
                  <a:srgbClr val="E1E6E9"/>
                </a:solidFill>
                <a:latin typeface="Segoe UI Symbol"/>
                <a:cs typeface="Segoe UI Symbol"/>
              </a:rPr>
              <a:t>automobile.</a:t>
            </a:r>
            <a:r>
              <a:rPr sz="1650" spc="-12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05" dirty="0">
                <a:solidFill>
                  <a:srgbClr val="E1E6E9"/>
                </a:solidFill>
                <a:latin typeface="Segoe UI Symbol"/>
                <a:cs typeface="Segoe UI Symbol"/>
              </a:rPr>
              <a:t>Analyses </a:t>
            </a:r>
            <a:r>
              <a:rPr sz="1650" spc="125" dirty="0">
                <a:solidFill>
                  <a:srgbClr val="E1E6E9"/>
                </a:solidFill>
                <a:latin typeface="Segoe UI Symbol"/>
                <a:cs typeface="Segoe UI Symbol"/>
              </a:rPr>
              <a:t>exclusives,</a:t>
            </a:r>
            <a:r>
              <a:rPr sz="1650" spc="-9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95" dirty="0">
                <a:solidFill>
                  <a:srgbClr val="E1E6E9"/>
                </a:solidFill>
                <a:latin typeface="Segoe UI Symbol"/>
                <a:cs typeface="Segoe UI Symbol"/>
              </a:rPr>
              <a:t>modèles</a:t>
            </a:r>
            <a:r>
              <a:rPr sz="1650" spc="-13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20" dirty="0">
                <a:solidFill>
                  <a:srgbClr val="E1E6E9"/>
                </a:solidFill>
                <a:latin typeface="Segoe UI Symbol"/>
                <a:cs typeface="Segoe UI Symbol"/>
              </a:rPr>
              <a:t>innovants, </a:t>
            </a:r>
            <a:r>
              <a:rPr sz="1650" spc="105" dirty="0">
                <a:solidFill>
                  <a:srgbClr val="E1E6E9"/>
                </a:solidFill>
                <a:latin typeface="Segoe UI Symbol"/>
                <a:cs typeface="Segoe UI Symbol"/>
              </a:rPr>
              <a:t>réglementations</a:t>
            </a:r>
            <a:r>
              <a:rPr sz="1650" spc="-10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70" dirty="0">
                <a:solidFill>
                  <a:srgbClr val="E1E6E9"/>
                </a:solidFill>
                <a:latin typeface="Segoe UI Symbol"/>
                <a:cs typeface="Segoe UI Symbol"/>
              </a:rPr>
              <a:t>et</a:t>
            </a:r>
            <a:r>
              <a:rPr sz="1650" spc="-6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00" dirty="0">
                <a:solidFill>
                  <a:srgbClr val="E1E6E9"/>
                </a:solidFill>
                <a:latin typeface="Segoe UI Symbol"/>
                <a:cs typeface="Segoe UI Symbol"/>
              </a:rPr>
              <a:t>impact </a:t>
            </a:r>
            <a:r>
              <a:rPr sz="1650" spc="85" dirty="0">
                <a:solidFill>
                  <a:srgbClr val="E1E6E9"/>
                </a:solidFill>
                <a:latin typeface="Segoe UI Symbol"/>
                <a:cs typeface="Segoe UI Symbol"/>
              </a:rPr>
              <a:t>économique</a:t>
            </a:r>
            <a:r>
              <a:rPr sz="1650" spc="-10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dirty="0">
                <a:solidFill>
                  <a:srgbClr val="E1E6E9"/>
                </a:solidFill>
                <a:latin typeface="Segoe UI Symbol"/>
                <a:cs typeface="Segoe UI Symbol"/>
              </a:rPr>
              <a:t>de</a:t>
            </a:r>
            <a:r>
              <a:rPr sz="1650" spc="-4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14" dirty="0">
                <a:solidFill>
                  <a:srgbClr val="E1E6E9"/>
                </a:solidFill>
                <a:latin typeface="Segoe UI Symbol"/>
                <a:cs typeface="Segoe UI Symbol"/>
              </a:rPr>
              <a:t>la</a:t>
            </a:r>
            <a:r>
              <a:rPr sz="1650" spc="-2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00" dirty="0">
                <a:solidFill>
                  <a:srgbClr val="E1E6E9"/>
                </a:solidFill>
                <a:latin typeface="Segoe UI Symbol"/>
                <a:cs typeface="Segoe UI Symbol"/>
              </a:rPr>
              <a:t>révolution </a:t>
            </a:r>
            <a:r>
              <a:rPr sz="1650" spc="90" dirty="0">
                <a:solidFill>
                  <a:srgbClr val="E1E6E9"/>
                </a:solidFill>
                <a:latin typeface="Segoe UI Symbol"/>
                <a:cs typeface="Segoe UI Symbol"/>
              </a:rPr>
              <a:t>autonome.</a:t>
            </a:r>
            <a:endParaRPr sz="16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1650" u="sng" spc="1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 Symbol"/>
                <a:cs typeface="Segoe UI Symbol"/>
                <a:hlinkClick r:id="rId3"/>
              </a:rPr>
              <a:t>https://www.voitures-</a:t>
            </a:r>
            <a:r>
              <a:rPr sz="1650" u="sng" spc="9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 Symbol"/>
                <a:cs typeface="Segoe UI Symbol"/>
                <a:hlinkClick r:id="rId3"/>
              </a:rPr>
              <a:t>autonomes.fr</a:t>
            </a:r>
            <a:endParaRPr sz="1650">
              <a:latin typeface="Segoe UI Symbol"/>
              <a:cs typeface="Segoe UI Symbo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616440" y="3364991"/>
            <a:ext cx="4282440" cy="4066540"/>
            <a:chOff x="9616440" y="3364991"/>
            <a:chExt cx="4282440" cy="4066540"/>
          </a:xfrm>
        </p:grpSpPr>
        <p:sp>
          <p:nvSpPr>
            <p:cNvPr id="19" name="object 19"/>
            <p:cNvSpPr/>
            <p:nvPr/>
          </p:nvSpPr>
          <p:spPr>
            <a:xfrm>
              <a:off x="9628632" y="3377183"/>
              <a:ext cx="4258310" cy="4041775"/>
            </a:xfrm>
            <a:custGeom>
              <a:avLst/>
              <a:gdLst/>
              <a:ahLst/>
              <a:cxnLst/>
              <a:rect l="l" t="t" r="r" b="b"/>
              <a:pathLst>
                <a:path w="4258309" h="4041775">
                  <a:moveTo>
                    <a:pt x="4169029" y="0"/>
                  </a:moveTo>
                  <a:lnTo>
                    <a:pt x="89026" y="0"/>
                  </a:lnTo>
                  <a:lnTo>
                    <a:pt x="54381" y="6998"/>
                  </a:lnTo>
                  <a:lnTo>
                    <a:pt x="26082" y="26082"/>
                  </a:lnTo>
                  <a:lnTo>
                    <a:pt x="6998" y="54381"/>
                  </a:lnTo>
                  <a:lnTo>
                    <a:pt x="0" y="89026"/>
                  </a:lnTo>
                  <a:lnTo>
                    <a:pt x="0" y="3952608"/>
                  </a:lnTo>
                  <a:lnTo>
                    <a:pt x="6998" y="3987266"/>
                  </a:lnTo>
                  <a:lnTo>
                    <a:pt x="26082" y="4015568"/>
                  </a:lnTo>
                  <a:lnTo>
                    <a:pt x="54381" y="4034650"/>
                  </a:lnTo>
                  <a:lnTo>
                    <a:pt x="89026" y="4041648"/>
                  </a:lnTo>
                  <a:lnTo>
                    <a:pt x="4169029" y="4041648"/>
                  </a:lnTo>
                  <a:lnTo>
                    <a:pt x="4203674" y="4034650"/>
                  </a:lnTo>
                  <a:lnTo>
                    <a:pt x="4231973" y="4015568"/>
                  </a:lnTo>
                  <a:lnTo>
                    <a:pt x="4251057" y="3987266"/>
                  </a:lnTo>
                  <a:lnTo>
                    <a:pt x="4258056" y="3952608"/>
                  </a:lnTo>
                  <a:lnTo>
                    <a:pt x="4258056" y="89026"/>
                  </a:lnTo>
                  <a:lnTo>
                    <a:pt x="4251057" y="54381"/>
                  </a:lnTo>
                  <a:lnTo>
                    <a:pt x="4231973" y="26082"/>
                  </a:lnTo>
                  <a:lnTo>
                    <a:pt x="4203674" y="6998"/>
                  </a:lnTo>
                  <a:lnTo>
                    <a:pt x="4169029" y="0"/>
                  </a:lnTo>
                  <a:close/>
                </a:path>
              </a:pathLst>
            </a:custGeom>
            <a:solidFill>
              <a:srgbClr val="09151A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628632" y="3377183"/>
              <a:ext cx="4258310" cy="4041775"/>
            </a:xfrm>
            <a:custGeom>
              <a:avLst/>
              <a:gdLst/>
              <a:ahLst/>
              <a:cxnLst/>
              <a:rect l="l" t="t" r="r" b="b"/>
              <a:pathLst>
                <a:path w="4258309" h="4041775">
                  <a:moveTo>
                    <a:pt x="0" y="89026"/>
                  </a:moveTo>
                  <a:lnTo>
                    <a:pt x="6998" y="54381"/>
                  </a:lnTo>
                  <a:lnTo>
                    <a:pt x="26082" y="26082"/>
                  </a:lnTo>
                  <a:lnTo>
                    <a:pt x="54381" y="6998"/>
                  </a:lnTo>
                  <a:lnTo>
                    <a:pt x="89026" y="0"/>
                  </a:lnTo>
                  <a:lnTo>
                    <a:pt x="4169029" y="0"/>
                  </a:lnTo>
                  <a:lnTo>
                    <a:pt x="4203674" y="6998"/>
                  </a:lnTo>
                  <a:lnTo>
                    <a:pt x="4231973" y="26082"/>
                  </a:lnTo>
                  <a:lnTo>
                    <a:pt x="4251057" y="54381"/>
                  </a:lnTo>
                  <a:lnTo>
                    <a:pt x="4258056" y="89026"/>
                  </a:lnTo>
                  <a:lnTo>
                    <a:pt x="4258056" y="3952608"/>
                  </a:lnTo>
                  <a:lnTo>
                    <a:pt x="4251057" y="3987266"/>
                  </a:lnTo>
                  <a:lnTo>
                    <a:pt x="4231973" y="4015568"/>
                  </a:lnTo>
                  <a:lnTo>
                    <a:pt x="4203674" y="4034650"/>
                  </a:lnTo>
                  <a:lnTo>
                    <a:pt x="4169029" y="4041648"/>
                  </a:lnTo>
                  <a:lnTo>
                    <a:pt x="89026" y="4041648"/>
                  </a:lnTo>
                  <a:lnTo>
                    <a:pt x="54381" y="4034650"/>
                  </a:lnTo>
                  <a:lnTo>
                    <a:pt x="26082" y="4015568"/>
                  </a:lnTo>
                  <a:lnTo>
                    <a:pt x="6998" y="3987266"/>
                  </a:lnTo>
                  <a:lnTo>
                    <a:pt x="0" y="3952608"/>
                  </a:lnTo>
                  <a:lnTo>
                    <a:pt x="0" y="89026"/>
                  </a:lnTo>
                  <a:close/>
                </a:path>
              </a:pathLst>
            </a:custGeom>
            <a:ln w="24384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649968" y="3398519"/>
              <a:ext cx="4215765" cy="213360"/>
            </a:xfrm>
            <a:custGeom>
              <a:avLst/>
              <a:gdLst/>
              <a:ahLst/>
              <a:cxnLst/>
              <a:rect l="l" t="t" r="r" b="b"/>
              <a:pathLst>
                <a:path w="4215765" h="213360">
                  <a:moveTo>
                    <a:pt x="4153280" y="0"/>
                  </a:moveTo>
                  <a:lnTo>
                    <a:pt x="62102" y="0"/>
                  </a:lnTo>
                  <a:lnTo>
                    <a:pt x="37933" y="4881"/>
                  </a:lnTo>
                  <a:lnTo>
                    <a:pt x="18192" y="18192"/>
                  </a:lnTo>
                  <a:lnTo>
                    <a:pt x="4881" y="37933"/>
                  </a:lnTo>
                  <a:lnTo>
                    <a:pt x="0" y="62102"/>
                  </a:lnTo>
                  <a:lnTo>
                    <a:pt x="0" y="151256"/>
                  </a:lnTo>
                  <a:lnTo>
                    <a:pt x="4881" y="175426"/>
                  </a:lnTo>
                  <a:lnTo>
                    <a:pt x="18192" y="195167"/>
                  </a:lnTo>
                  <a:lnTo>
                    <a:pt x="37933" y="208478"/>
                  </a:lnTo>
                  <a:lnTo>
                    <a:pt x="62102" y="213359"/>
                  </a:lnTo>
                  <a:lnTo>
                    <a:pt x="4153280" y="213359"/>
                  </a:lnTo>
                  <a:lnTo>
                    <a:pt x="4177450" y="208478"/>
                  </a:lnTo>
                  <a:lnTo>
                    <a:pt x="4197191" y="195167"/>
                  </a:lnTo>
                  <a:lnTo>
                    <a:pt x="4210502" y="175426"/>
                  </a:lnTo>
                  <a:lnTo>
                    <a:pt x="4215383" y="151256"/>
                  </a:lnTo>
                  <a:lnTo>
                    <a:pt x="4215383" y="62102"/>
                  </a:lnTo>
                  <a:lnTo>
                    <a:pt x="4210502" y="37933"/>
                  </a:lnTo>
                  <a:lnTo>
                    <a:pt x="4197191" y="18192"/>
                  </a:lnTo>
                  <a:lnTo>
                    <a:pt x="4177450" y="4881"/>
                  </a:lnTo>
                  <a:lnTo>
                    <a:pt x="4153280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851897" y="3769309"/>
            <a:ext cx="3799204" cy="2447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114" dirty="0">
                <a:solidFill>
                  <a:srgbClr val="E1E6E9"/>
                </a:solidFill>
                <a:latin typeface="Segoe UI Symbol"/>
                <a:cs typeface="Segoe UI Symbol"/>
              </a:rPr>
              <a:t>Wired</a:t>
            </a:r>
            <a:r>
              <a:rPr sz="2050" spc="-3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2050" spc="365" dirty="0">
                <a:solidFill>
                  <a:srgbClr val="E1E6E9"/>
                </a:solidFill>
                <a:latin typeface="Segoe UI Symbol"/>
                <a:cs typeface="Segoe UI Symbol"/>
              </a:rPr>
              <a:t>—</a:t>
            </a:r>
            <a:r>
              <a:rPr sz="205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2050" spc="180" dirty="0">
                <a:solidFill>
                  <a:srgbClr val="E1E6E9"/>
                </a:solidFill>
                <a:latin typeface="Segoe UI Symbol"/>
                <a:cs typeface="Segoe UI Symbol"/>
              </a:rPr>
              <a:t>Self-</a:t>
            </a:r>
            <a:r>
              <a:rPr sz="2050" spc="145" dirty="0">
                <a:solidFill>
                  <a:srgbClr val="E1E6E9"/>
                </a:solidFill>
                <a:latin typeface="Segoe UI Symbol"/>
                <a:cs typeface="Segoe UI Symbol"/>
              </a:rPr>
              <a:t>Driving</a:t>
            </a:r>
            <a:r>
              <a:rPr sz="2050" spc="5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2050" spc="110" dirty="0">
                <a:solidFill>
                  <a:srgbClr val="E1E6E9"/>
                </a:solidFill>
                <a:latin typeface="Segoe UI Symbol"/>
                <a:cs typeface="Segoe UI Symbol"/>
              </a:rPr>
              <a:t>Cars</a:t>
            </a:r>
            <a:endParaRPr sz="2050">
              <a:latin typeface="Segoe UI Symbol"/>
              <a:cs typeface="Segoe UI Symbol"/>
            </a:endParaRPr>
          </a:p>
          <a:p>
            <a:pPr marL="12700" marR="5080">
              <a:lnSpc>
                <a:spcPct val="126499"/>
              </a:lnSpc>
              <a:spcBef>
                <a:spcPts val="815"/>
              </a:spcBef>
            </a:pPr>
            <a:r>
              <a:rPr sz="1650" spc="114" dirty="0">
                <a:solidFill>
                  <a:srgbClr val="E1E6E9"/>
                </a:solidFill>
                <a:latin typeface="Segoe UI Symbol"/>
                <a:cs typeface="Segoe UI Symbol"/>
              </a:rPr>
              <a:t>Analyses</a:t>
            </a:r>
            <a:r>
              <a:rPr sz="1650" spc="-8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10" dirty="0">
                <a:solidFill>
                  <a:srgbClr val="E1E6E9"/>
                </a:solidFill>
                <a:latin typeface="Segoe UI Symbol"/>
                <a:cs typeface="Segoe UI Symbol"/>
              </a:rPr>
              <a:t>fouillées</a:t>
            </a:r>
            <a:r>
              <a:rPr sz="1650" spc="-13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75" dirty="0">
                <a:solidFill>
                  <a:srgbClr val="E1E6E9"/>
                </a:solidFill>
                <a:latin typeface="Segoe UI Symbol"/>
                <a:cs typeface="Segoe UI Symbol"/>
              </a:rPr>
              <a:t>et</a:t>
            </a:r>
            <a:r>
              <a:rPr sz="1650" spc="-6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90" dirty="0">
                <a:solidFill>
                  <a:srgbClr val="E1E6E9"/>
                </a:solidFill>
                <a:latin typeface="Segoe UI Symbol"/>
                <a:cs typeface="Segoe UI Symbol"/>
              </a:rPr>
              <a:t>reportages</a:t>
            </a:r>
            <a:r>
              <a:rPr sz="1650" spc="-7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14" dirty="0">
                <a:solidFill>
                  <a:srgbClr val="E1E6E9"/>
                </a:solidFill>
                <a:latin typeface="Segoe UI Symbol"/>
                <a:cs typeface="Segoe UI Symbol"/>
              </a:rPr>
              <a:t>sur </a:t>
            </a:r>
            <a:r>
              <a:rPr sz="1650" spc="130" dirty="0">
                <a:solidFill>
                  <a:srgbClr val="E1E6E9"/>
                </a:solidFill>
                <a:latin typeface="Segoe UI Symbol"/>
                <a:cs typeface="Segoe UI Symbol"/>
              </a:rPr>
              <a:t>l'impact</a:t>
            </a:r>
            <a:r>
              <a:rPr sz="1650" spc="-4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95" dirty="0">
                <a:solidFill>
                  <a:srgbClr val="E1E6E9"/>
                </a:solidFill>
                <a:latin typeface="Segoe UI Symbol"/>
                <a:cs typeface="Segoe UI Symbol"/>
              </a:rPr>
              <a:t>sociétal</a:t>
            </a:r>
            <a:r>
              <a:rPr sz="1650" spc="-7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75" dirty="0">
                <a:solidFill>
                  <a:srgbClr val="E1E6E9"/>
                </a:solidFill>
                <a:latin typeface="Segoe UI Symbol"/>
                <a:cs typeface="Segoe UI Symbol"/>
              </a:rPr>
              <a:t>des</a:t>
            </a:r>
            <a:r>
              <a:rPr sz="1650" spc="-6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100" dirty="0">
                <a:solidFill>
                  <a:srgbClr val="E1E6E9"/>
                </a:solidFill>
                <a:latin typeface="Segoe UI Symbol"/>
                <a:cs typeface="Segoe UI Symbol"/>
              </a:rPr>
              <a:t>voitures </a:t>
            </a:r>
            <a:r>
              <a:rPr sz="1650" spc="105" dirty="0">
                <a:solidFill>
                  <a:srgbClr val="E1E6E9"/>
                </a:solidFill>
                <a:latin typeface="Segoe UI Symbol"/>
                <a:cs typeface="Segoe UI Symbol"/>
              </a:rPr>
              <a:t>autonomes.</a:t>
            </a:r>
            <a:r>
              <a:rPr sz="1650" spc="-13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85" dirty="0">
                <a:solidFill>
                  <a:srgbClr val="E1E6E9"/>
                </a:solidFill>
                <a:latin typeface="Segoe UI Symbol"/>
                <a:cs typeface="Segoe UI Symbol"/>
              </a:rPr>
              <a:t>Une</a:t>
            </a:r>
            <a:r>
              <a:rPr sz="1650" spc="-3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90" dirty="0">
                <a:solidFill>
                  <a:srgbClr val="E1E6E9"/>
                </a:solidFill>
                <a:latin typeface="Segoe UI Symbol"/>
                <a:cs typeface="Segoe UI Symbol"/>
              </a:rPr>
              <a:t>perspective</a:t>
            </a:r>
            <a:r>
              <a:rPr sz="1650" spc="-9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95" dirty="0">
                <a:solidFill>
                  <a:srgbClr val="E1E6E9"/>
                </a:solidFill>
                <a:latin typeface="Segoe UI Symbol"/>
                <a:cs typeface="Segoe UI Symbol"/>
              </a:rPr>
              <a:t>critique </a:t>
            </a:r>
            <a:r>
              <a:rPr sz="1650" spc="75" dirty="0">
                <a:solidFill>
                  <a:srgbClr val="E1E6E9"/>
                </a:solidFill>
                <a:latin typeface="Segoe UI Symbol"/>
                <a:cs typeface="Segoe UI Symbol"/>
              </a:rPr>
              <a:t>et</a:t>
            </a:r>
            <a:r>
              <a:rPr sz="1650" spc="-6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650" spc="85" dirty="0">
                <a:solidFill>
                  <a:srgbClr val="E1E6E9"/>
                </a:solidFill>
                <a:latin typeface="Segoe UI Symbol"/>
                <a:cs typeface="Segoe UI Symbol"/>
              </a:rPr>
              <a:t>nuancée.</a:t>
            </a:r>
            <a:endParaRPr sz="16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650" u="sng" spc="1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 Symbol"/>
                <a:cs typeface="Segoe UI Symbol"/>
                <a:hlinkClick r:id="rId4"/>
              </a:rPr>
              <a:t>https://www.wired.com/tag/self-</a:t>
            </a:r>
            <a:endParaRPr sz="16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650" u="sng" spc="1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 Symbol"/>
                <a:cs typeface="Segoe UI Symbol"/>
                <a:hlinkClick r:id="rId4"/>
              </a:rPr>
              <a:t>driving-</a:t>
            </a:r>
            <a:r>
              <a:rPr sz="1650" u="sng" spc="8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 Symbol"/>
                <a:cs typeface="Segoe UI Symbol"/>
                <a:hlinkClick r:id="rId4"/>
              </a:rPr>
              <a:t>cars/</a:t>
            </a:r>
            <a:endParaRPr sz="16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36">
            <a:extLst>
              <a:ext uri="{FF2B5EF4-FFF2-40B4-BE49-F238E27FC236}">
                <a16:creationId xmlns:a16="http://schemas.microsoft.com/office/drawing/2014/main" id="{71355287-AB70-7547-EFDA-046C2AA52964}"/>
              </a:ext>
            </a:extLst>
          </p:cNvPr>
          <p:cNvSpPr/>
          <p:nvPr/>
        </p:nvSpPr>
        <p:spPr>
          <a:xfrm>
            <a:off x="3970" y="20251"/>
            <a:ext cx="14626430" cy="8189097"/>
          </a:xfrm>
          <a:custGeom>
            <a:avLst/>
            <a:gdLst/>
            <a:ahLst/>
            <a:cxnLst/>
            <a:rect l="l" t="t" r="r" b="b"/>
            <a:pathLst>
              <a:path w="2078990" h="920750">
                <a:moveTo>
                  <a:pt x="2078735" y="0"/>
                </a:moveTo>
                <a:lnTo>
                  <a:pt x="0" y="0"/>
                </a:lnTo>
                <a:lnTo>
                  <a:pt x="0" y="920496"/>
                </a:lnTo>
                <a:lnTo>
                  <a:pt x="2078735" y="920496"/>
                </a:lnTo>
                <a:lnTo>
                  <a:pt x="2078735" y="0"/>
                </a:lnTo>
                <a:close/>
              </a:path>
            </a:pathLst>
          </a:custGeom>
          <a:solidFill>
            <a:srgbClr val="162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0494" y="446023"/>
            <a:ext cx="7105015" cy="41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50" spc="145" dirty="0"/>
              <a:t>Approfondir</a:t>
            </a:r>
            <a:r>
              <a:rPr sz="2550" spc="-55" dirty="0"/>
              <a:t> </a:t>
            </a:r>
            <a:r>
              <a:rPr sz="2550" spc="320" dirty="0"/>
              <a:t>:</a:t>
            </a:r>
            <a:r>
              <a:rPr sz="2550" spc="-70" dirty="0"/>
              <a:t> </a:t>
            </a:r>
            <a:r>
              <a:rPr sz="2550" spc="165" dirty="0"/>
              <a:t>Outils,</a:t>
            </a:r>
            <a:r>
              <a:rPr sz="2550" spc="-65" dirty="0"/>
              <a:t> </a:t>
            </a:r>
            <a:r>
              <a:rPr sz="2550" spc="160" dirty="0"/>
              <a:t>Newsletters</a:t>
            </a:r>
            <a:r>
              <a:rPr sz="2550" spc="-100" dirty="0"/>
              <a:t> </a:t>
            </a:r>
            <a:r>
              <a:rPr sz="2550" spc="-130" dirty="0"/>
              <a:t>&amp;</a:t>
            </a:r>
            <a:r>
              <a:rPr sz="2550" spc="-80" dirty="0"/>
              <a:t> </a:t>
            </a:r>
            <a:r>
              <a:rPr sz="2550" spc="125" dirty="0"/>
              <a:t>Podcasts</a:t>
            </a:r>
            <a:endParaRPr sz="2550"/>
          </a:p>
        </p:txBody>
      </p:sp>
      <p:grpSp>
        <p:nvGrpSpPr>
          <p:cNvPr id="3" name="object 3"/>
          <p:cNvGrpSpPr/>
          <p:nvPr/>
        </p:nvGrpSpPr>
        <p:grpSpPr>
          <a:xfrm>
            <a:off x="3203448" y="1027175"/>
            <a:ext cx="4078604" cy="1582420"/>
            <a:chOff x="3203448" y="1027175"/>
            <a:chExt cx="4078604" cy="1582420"/>
          </a:xfrm>
        </p:grpSpPr>
        <p:sp>
          <p:nvSpPr>
            <p:cNvPr id="4" name="object 4"/>
            <p:cNvSpPr/>
            <p:nvPr/>
          </p:nvSpPr>
          <p:spPr>
            <a:xfrm>
              <a:off x="3203448" y="1222247"/>
              <a:ext cx="4078604" cy="1386840"/>
            </a:xfrm>
            <a:custGeom>
              <a:avLst/>
              <a:gdLst/>
              <a:ahLst/>
              <a:cxnLst/>
              <a:rect l="l" t="t" r="r" b="b"/>
              <a:pathLst>
                <a:path w="4078604" h="1386839">
                  <a:moveTo>
                    <a:pt x="4005072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313688"/>
                  </a:lnTo>
                  <a:lnTo>
                    <a:pt x="5750" y="1342155"/>
                  </a:lnTo>
                  <a:lnTo>
                    <a:pt x="21431" y="1365408"/>
                  </a:lnTo>
                  <a:lnTo>
                    <a:pt x="44684" y="1381089"/>
                  </a:lnTo>
                  <a:lnTo>
                    <a:pt x="73151" y="1386839"/>
                  </a:lnTo>
                  <a:lnTo>
                    <a:pt x="4005072" y="1386839"/>
                  </a:lnTo>
                  <a:lnTo>
                    <a:pt x="4033539" y="1381089"/>
                  </a:lnTo>
                  <a:lnTo>
                    <a:pt x="4056792" y="1365408"/>
                  </a:lnTo>
                  <a:lnTo>
                    <a:pt x="4072473" y="1342155"/>
                  </a:lnTo>
                  <a:lnTo>
                    <a:pt x="4078224" y="1313688"/>
                  </a:lnTo>
                  <a:lnTo>
                    <a:pt x="4078224" y="73151"/>
                  </a:lnTo>
                  <a:lnTo>
                    <a:pt x="4072473" y="44684"/>
                  </a:lnTo>
                  <a:lnTo>
                    <a:pt x="4056792" y="21431"/>
                  </a:lnTo>
                  <a:lnTo>
                    <a:pt x="4033539" y="5750"/>
                  </a:lnTo>
                  <a:lnTo>
                    <a:pt x="4005072" y="0"/>
                  </a:lnTo>
                  <a:close/>
                </a:path>
              </a:pathLst>
            </a:custGeom>
            <a:solidFill>
              <a:srgbClr val="09151A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03448" y="1027175"/>
              <a:ext cx="4078604" cy="393700"/>
            </a:xfrm>
            <a:custGeom>
              <a:avLst/>
              <a:gdLst/>
              <a:ahLst/>
              <a:cxnLst/>
              <a:rect l="l" t="t" r="r" b="b"/>
              <a:pathLst>
                <a:path w="4078604" h="393700">
                  <a:moveTo>
                    <a:pt x="4078224" y="210312"/>
                  </a:moveTo>
                  <a:lnTo>
                    <a:pt x="4075836" y="198424"/>
                  </a:lnTo>
                  <a:lnTo>
                    <a:pt x="4069308" y="188747"/>
                  </a:lnTo>
                  <a:lnTo>
                    <a:pt x="4059631" y="182219"/>
                  </a:lnTo>
                  <a:lnTo>
                    <a:pt x="4047744" y="179832"/>
                  </a:lnTo>
                  <a:lnTo>
                    <a:pt x="2232241" y="179832"/>
                  </a:lnTo>
                  <a:lnTo>
                    <a:pt x="2228989" y="151523"/>
                  </a:lnTo>
                  <a:lnTo>
                    <a:pt x="2214194" y="110147"/>
                  </a:lnTo>
                  <a:lnTo>
                    <a:pt x="2190991" y="73634"/>
                  </a:lnTo>
                  <a:lnTo>
                    <a:pt x="2160549" y="43192"/>
                  </a:lnTo>
                  <a:lnTo>
                    <a:pt x="2124037" y="19989"/>
                  </a:lnTo>
                  <a:lnTo>
                    <a:pt x="2082660" y="5194"/>
                  </a:lnTo>
                  <a:lnTo>
                    <a:pt x="2037588" y="0"/>
                  </a:lnTo>
                  <a:lnTo>
                    <a:pt x="1992503" y="5194"/>
                  </a:lnTo>
                  <a:lnTo>
                    <a:pt x="1951126" y="19989"/>
                  </a:lnTo>
                  <a:lnTo>
                    <a:pt x="1914613" y="43192"/>
                  </a:lnTo>
                  <a:lnTo>
                    <a:pt x="1884172" y="73634"/>
                  </a:lnTo>
                  <a:lnTo>
                    <a:pt x="1860969" y="110147"/>
                  </a:lnTo>
                  <a:lnTo>
                    <a:pt x="1846173" y="151523"/>
                  </a:lnTo>
                  <a:lnTo>
                    <a:pt x="1842909" y="179832"/>
                  </a:lnTo>
                  <a:lnTo>
                    <a:pt x="30480" y="179832"/>
                  </a:lnTo>
                  <a:lnTo>
                    <a:pt x="18580" y="182219"/>
                  </a:lnTo>
                  <a:lnTo>
                    <a:pt x="8902" y="188747"/>
                  </a:lnTo>
                  <a:lnTo>
                    <a:pt x="2374" y="198424"/>
                  </a:lnTo>
                  <a:lnTo>
                    <a:pt x="0" y="210312"/>
                  </a:lnTo>
                  <a:lnTo>
                    <a:pt x="2374" y="222211"/>
                  </a:lnTo>
                  <a:lnTo>
                    <a:pt x="8902" y="231889"/>
                  </a:lnTo>
                  <a:lnTo>
                    <a:pt x="18580" y="238417"/>
                  </a:lnTo>
                  <a:lnTo>
                    <a:pt x="30480" y="240792"/>
                  </a:lnTo>
                  <a:lnTo>
                    <a:pt x="1846059" y="240792"/>
                  </a:lnTo>
                  <a:lnTo>
                    <a:pt x="1846173" y="241681"/>
                  </a:lnTo>
                  <a:lnTo>
                    <a:pt x="1860969" y="283057"/>
                  </a:lnTo>
                  <a:lnTo>
                    <a:pt x="1884172" y="319570"/>
                  </a:lnTo>
                  <a:lnTo>
                    <a:pt x="1914613" y="350012"/>
                  </a:lnTo>
                  <a:lnTo>
                    <a:pt x="1951126" y="373214"/>
                  </a:lnTo>
                  <a:lnTo>
                    <a:pt x="1992503" y="388010"/>
                  </a:lnTo>
                  <a:lnTo>
                    <a:pt x="2037588" y="393192"/>
                  </a:lnTo>
                  <a:lnTo>
                    <a:pt x="2082660" y="388010"/>
                  </a:lnTo>
                  <a:lnTo>
                    <a:pt x="2124037" y="373214"/>
                  </a:lnTo>
                  <a:lnTo>
                    <a:pt x="2160549" y="350012"/>
                  </a:lnTo>
                  <a:lnTo>
                    <a:pt x="2190991" y="319570"/>
                  </a:lnTo>
                  <a:lnTo>
                    <a:pt x="2214194" y="283057"/>
                  </a:lnTo>
                  <a:lnTo>
                    <a:pt x="2228989" y="241681"/>
                  </a:lnTo>
                  <a:lnTo>
                    <a:pt x="2229091" y="240792"/>
                  </a:lnTo>
                  <a:lnTo>
                    <a:pt x="4047744" y="240792"/>
                  </a:lnTo>
                  <a:lnTo>
                    <a:pt x="4059631" y="238417"/>
                  </a:lnTo>
                  <a:lnTo>
                    <a:pt x="4069308" y="231889"/>
                  </a:lnTo>
                  <a:lnTo>
                    <a:pt x="4075836" y="222211"/>
                  </a:lnTo>
                  <a:lnTo>
                    <a:pt x="4078224" y="210312"/>
                  </a:lnTo>
                  <a:close/>
                </a:path>
              </a:pathLst>
            </a:custGeom>
            <a:solidFill>
              <a:srgbClr val="5F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337052" y="1458035"/>
            <a:ext cx="3603625" cy="66802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250" dirty="0">
                <a:latin typeface="Segoe UI Symbol"/>
                <a:cs typeface="Segoe UI Symbol"/>
              </a:rPr>
              <a:t>🔔</a:t>
            </a:r>
            <a:r>
              <a:rPr sz="1250" spc="-45" dirty="0"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E1E6E9"/>
                </a:solidFill>
                <a:latin typeface="Segoe UI Symbol"/>
                <a:cs typeface="Segoe UI Symbol"/>
              </a:rPr>
              <a:t>Alertes</a:t>
            </a:r>
            <a:r>
              <a:rPr sz="1250" spc="-4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1E6E9"/>
                </a:solidFill>
                <a:latin typeface="Segoe UI Symbol"/>
                <a:cs typeface="Segoe UI Symbol"/>
              </a:rPr>
              <a:t>Google</a:t>
            </a:r>
            <a:endParaRPr sz="1250">
              <a:latin typeface="Segoe UI Symbol"/>
              <a:cs typeface="Segoe UI Symbol"/>
            </a:endParaRPr>
          </a:p>
          <a:p>
            <a:pPr marL="12700" marR="5080">
              <a:lnSpc>
                <a:spcPct val="108000"/>
              </a:lnSpc>
              <a:spcBef>
                <a:spcPts val="380"/>
              </a:spcBef>
            </a:pPr>
            <a:r>
              <a:rPr sz="1000" spc="65" dirty="0">
                <a:solidFill>
                  <a:srgbClr val="E1E6E9"/>
                </a:solidFill>
                <a:latin typeface="Segoe UI Symbol"/>
                <a:cs typeface="Segoe UI Symbol"/>
              </a:rPr>
              <a:t>Configurez</a:t>
            </a:r>
            <a:r>
              <a:rPr sz="1000" spc="-6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E1E6E9"/>
                </a:solidFill>
                <a:latin typeface="Segoe UI Symbol"/>
                <a:cs typeface="Segoe UI Symbol"/>
              </a:rPr>
              <a:t>des </a:t>
            </a:r>
            <a:r>
              <a:rPr sz="1000" spc="60" dirty="0">
                <a:solidFill>
                  <a:srgbClr val="E1E6E9"/>
                </a:solidFill>
                <a:latin typeface="Segoe UI Symbol"/>
                <a:cs typeface="Segoe UI Symbol"/>
              </a:rPr>
              <a:t>alertes</a:t>
            </a:r>
            <a:r>
              <a:rPr sz="1000" spc="-3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85" dirty="0">
                <a:solidFill>
                  <a:srgbClr val="E1E6E9"/>
                </a:solidFill>
                <a:latin typeface="Segoe UI Symbol"/>
                <a:cs typeface="Segoe UI Symbol"/>
              </a:rPr>
              <a:t>sur</a:t>
            </a:r>
            <a:r>
              <a:rPr sz="1000" spc="1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u="sng" spc="5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 Symbol"/>
                <a:cs typeface="Segoe UI Symbol"/>
                <a:hlinkClick r:id="rId2"/>
              </a:rPr>
              <a:t>alerts.google.com</a:t>
            </a:r>
            <a:r>
              <a:rPr sz="1000" spc="-60" dirty="0">
                <a:solidFill>
                  <a:srgbClr val="0462C1"/>
                </a:solidFill>
                <a:latin typeface="Segoe UI Symbol"/>
                <a:cs typeface="Segoe UI Symbol"/>
              </a:rPr>
              <a:t> </a:t>
            </a:r>
            <a:r>
              <a:rPr sz="1000" spc="60" dirty="0">
                <a:solidFill>
                  <a:srgbClr val="E1E6E9"/>
                </a:solidFill>
                <a:latin typeface="Segoe UI Symbol"/>
                <a:cs typeface="Segoe UI Symbol"/>
              </a:rPr>
              <a:t>pour</a:t>
            </a:r>
            <a:r>
              <a:rPr sz="1000" spc="-3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55" dirty="0">
                <a:solidFill>
                  <a:srgbClr val="E1E6E9"/>
                </a:solidFill>
                <a:latin typeface="Segoe UI Symbol"/>
                <a:cs typeface="Segoe UI Symbol"/>
              </a:rPr>
              <a:t>ne</a:t>
            </a:r>
            <a:r>
              <a:rPr sz="1000" spc="1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55" dirty="0">
                <a:solidFill>
                  <a:srgbClr val="E1E6E9"/>
                </a:solidFill>
                <a:latin typeface="Segoe UI Symbol"/>
                <a:cs typeface="Segoe UI Symbol"/>
              </a:rPr>
              <a:t>rien </a:t>
            </a:r>
            <a:r>
              <a:rPr sz="1000" spc="70" dirty="0">
                <a:solidFill>
                  <a:srgbClr val="E1E6E9"/>
                </a:solidFill>
                <a:latin typeface="Segoe UI Symbol"/>
                <a:cs typeface="Segoe UI Symbol"/>
              </a:rPr>
              <a:t>manquer.</a:t>
            </a:r>
            <a:r>
              <a:rPr sz="100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100" dirty="0">
                <a:solidFill>
                  <a:srgbClr val="E1E6E9"/>
                </a:solidFill>
                <a:latin typeface="Segoe UI Symbol"/>
                <a:cs typeface="Segoe UI Symbol"/>
              </a:rPr>
              <a:t>Mots-</a:t>
            </a:r>
            <a:r>
              <a:rPr sz="1000" spc="60" dirty="0">
                <a:solidFill>
                  <a:srgbClr val="E1E6E9"/>
                </a:solidFill>
                <a:latin typeface="Segoe UI Symbol"/>
                <a:cs typeface="Segoe UI Symbol"/>
              </a:rPr>
              <a:t>clés</a:t>
            </a:r>
            <a:r>
              <a:rPr sz="1000" spc="-6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70" dirty="0">
                <a:solidFill>
                  <a:srgbClr val="E1E6E9"/>
                </a:solidFill>
                <a:latin typeface="Segoe UI Symbol"/>
                <a:cs typeface="Segoe UI Symbol"/>
              </a:rPr>
              <a:t>recommandés</a:t>
            </a:r>
            <a:r>
              <a:rPr sz="1000" spc="-9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80" dirty="0">
                <a:solidFill>
                  <a:srgbClr val="E1E6E9"/>
                </a:solidFill>
                <a:latin typeface="Segoe UI Symbol"/>
                <a:cs typeface="Segoe UI Symbol"/>
              </a:rPr>
              <a:t>: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348728" y="1027175"/>
            <a:ext cx="4078604" cy="1582420"/>
            <a:chOff x="7348728" y="1027175"/>
            <a:chExt cx="4078604" cy="1582420"/>
          </a:xfrm>
        </p:grpSpPr>
        <p:sp>
          <p:nvSpPr>
            <p:cNvPr id="8" name="object 8"/>
            <p:cNvSpPr/>
            <p:nvPr/>
          </p:nvSpPr>
          <p:spPr>
            <a:xfrm>
              <a:off x="7348728" y="1222247"/>
              <a:ext cx="4078604" cy="1386840"/>
            </a:xfrm>
            <a:custGeom>
              <a:avLst/>
              <a:gdLst/>
              <a:ahLst/>
              <a:cxnLst/>
              <a:rect l="l" t="t" r="r" b="b"/>
              <a:pathLst>
                <a:path w="4078604" h="1386839">
                  <a:moveTo>
                    <a:pt x="4005072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313688"/>
                  </a:lnTo>
                  <a:lnTo>
                    <a:pt x="5750" y="1342155"/>
                  </a:lnTo>
                  <a:lnTo>
                    <a:pt x="21431" y="1365408"/>
                  </a:lnTo>
                  <a:lnTo>
                    <a:pt x="44684" y="1381089"/>
                  </a:lnTo>
                  <a:lnTo>
                    <a:pt x="73151" y="1386839"/>
                  </a:lnTo>
                  <a:lnTo>
                    <a:pt x="4005072" y="1386839"/>
                  </a:lnTo>
                  <a:lnTo>
                    <a:pt x="4033539" y="1381089"/>
                  </a:lnTo>
                  <a:lnTo>
                    <a:pt x="4056792" y="1365408"/>
                  </a:lnTo>
                  <a:lnTo>
                    <a:pt x="4072473" y="1342155"/>
                  </a:lnTo>
                  <a:lnTo>
                    <a:pt x="4078224" y="1313688"/>
                  </a:lnTo>
                  <a:lnTo>
                    <a:pt x="4078224" y="73151"/>
                  </a:lnTo>
                  <a:lnTo>
                    <a:pt x="4072473" y="44684"/>
                  </a:lnTo>
                  <a:lnTo>
                    <a:pt x="4056792" y="21431"/>
                  </a:lnTo>
                  <a:lnTo>
                    <a:pt x="4033539" y="5750"/>
                  </a:lnTo>
                  <a:lnTo>
                    <a:pt x="4005072" y="0"/>
                  </a:lnTo>
                  <a:close/>
                </a:path>
              </a:pathLst>
            </a:custGeom>
            <a:solidFill>
              <a:srgbClr val="09151A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48728" y="1027175"/>
              <a:ext cx="4078604" cy="393700"/>
            </a:xfrm>
            <a:custGeom>
              <a:avLst/>
              <a:gdLst/>
              <a:ahLst/>
              <a:cxnLst/>
              <a:rect l="l" t="t" r="r" b="b"/>
              <a:pathLst>
                <a:path w="4078604" h="393700">
                  <a:moveTo>
                    <a:pt x="4078224" y="210312"/>
                  </a:moveTo>
                  <a:lnTo>
                    <a:pt x="4075836" y="198424"/>
                  </a:lnTo>
                  <a:lnTo>
                    <a:pt x="4069308" y="188747"/>
                  </a:lnTo>
                  <a:lnTo>
                    <a:pt x="4059631" y="182219"/>
                  </a:lnTo>
                  <a:lnTo>
                    <a:pt x="4047744" y="179832"/>
                  </a:lnTo>
                  <a:lnTo>
                    <a:pt x="2235289" y="179832"/>
                  </a:lnTo>
                  <a:lnTo>
                    <a:pt x="2232037" y="151523"/>
                  </a:lnTo>
                  <a:lnTo>
                    <a:pt x="2217242" y="110147"/>
                  </a:lnTo>
                  <a:lnTo>
                    <a:pt x="2194039" y="73634"/>
                  </a:lnTo>
                  <a:lnTo>
                    <a:pt x="2163597" y="43192"/>
                  </a:lnTo>
                  <a:lnTo>
                    <a:pt x="2127085" y="19989"/>
                  </a:lnTo>
                  <a:lnTo>
                    <a:pt x="2085708" y="5194"/>
                  </a:lnTo>
                  <a:lnTo>
                    <a:pt x="2040636" y="0"/>
                  </a:lnTo>
                  <a:lnTo>
                    <a:pt x="1995551" y="5194"/>
                  </a:lnTo>
                  <a:lnTo>
                    <a:pt x="1954174" y="19989"/>
                  </a:lnTo>
                  <a:lnTo>
                    <a:pt x="1917661" y="43192"/>
                  </a:lnTo>
                  <a:lnTo>
                    <a:pt x="1887220" y="73634"/>
                  </a:lnTo>
                  <a:lnTo>
                    <a:pt x="1864017" y="110147"/>
                  </a:lnTo>
                  <a:lnTo>
                    <a:pt x="1849221" y="151523"/>
                  </a:lnTo>
                  <a:lnTo>
                    <a:pt x="1845957" y="179832"/>
                  </a:lnTo>
                  <a:lnTo>
                    <a:pt x="30480" y="179832"/>
                  </a:lnTo>
                  <a:lnTo>
                    <a:pt x="18580" y="182219"/>
                  </a:lnTo>
                  <a:lnTo>
                    <a:pt x="8902" y="188747"/>
                  </a:lnTo>
                  <a:lnTo>
                    <a:pt x="2374" y="198424"/>
                  </a:lnTo>
                  <a:lnTo>
                    <a:pt x="0" y="210312"/>
                  </a:lnTo>
                  <a:lnTo>
                    <a:pt x="2374" y="222211"/>
                  </a:lnTo>
                  <a:lnTo>
                    <a:pt x="8902" y="231889"/>
                  </a:lnTo>
                  <a:lnTo>
                    <a:pt x="18580" y="238417"/>
                  </a:lnTo>
                  <a:lnTo>
                    <a:pt x="30480" y="240792"/>
                  </a:lnTo>
                  <a:lnTo>
                    <a:pt x="1849107" y="240792"/>
                  </a:lnTo>
                  <a:lnTo>
                    <a:pt x="1849221" y="241681"/>
                  </a:lnTo>
                  <a:lnTo>
                    <a:pt x="1864017" y="283057"/>
                  </a:lnTo>
                  <a:lnTo>
                    <a:pt x="1887220" y="319570"/>
                  </a:lnTo>
                  <a:lnTo>
                    <a:pt x="1917661" y="350012"/>
                  </a:lnTo>
                  <a:lnTo>
                    <a:pt x="1954174" y="373214"/>
                  </a:lnTo>
                  <a:lnTo>
                    <a:pt x="1995551" y="388010"/>
                  </a:lnTo>
                  <a:lnTo>
                    <a:pt x="2040636" y="393192"/>
                  </a:lnTo>
                  <a:lnTo>
                    <a:pt x="2085708" y="388010"/>
                  </a:lnTo>
                  <a:lnTo>
                    <a:pt x="2127085" y="373214"/>
                  </a:lnTo>
                  <a:lnTo>
                    <a:pt x="2163597" y="350012"/>
                  </a:lnTo>
                  <a:lnTo>
                    <a:pt x="2194039" y="319570"/>
                  </a:lnTo>
                  <a:lnTo>
                    <a:pt x="2217242" y="283057"/>
                  </a:lnTo>
                  <a:lnTo>
                    <a:pt x="2232037" y="241681"/>
                  </a:lnTo>
                  <a:lnTo>
                    <a:pt x="2232139" y="240792"/>
                  </a:lnTo>
                  <a:lnTo>
                    <a:pt x="4047744" y="240792"/>
                  </a:lnTo>
                  <a:lnTo>
                    <a:pt x="4059631" y="238417"/>
                  </a:lnTo>
                  <a:lnTo>
                    <a:pt x="4069308" y="231889"/>
                  </a:lnTo>
                  <a:lnTo>
                    <a:pt x="4075836" y="222211"/>
                  </a:lnTo>
                  <a:lnTo>
                    <a:pt x="4078224" y="210312"/>
                  </a:lnTo>
                  <a:close/>
                </a:path>
              </a:pathLst>
            </a:custGeom>
            <a:solidFill>
              <a:srgbClr val="5F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485380" y="1532000"/>
            <a:ext cx="115379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dirty="0">
                <a:latin typeface="Segoe UI Symbol"/>
                <a:cs typeface="Segoe UI Symbol"/>
              </a:rPr>
              <a:t>📰</a:t>
            </a:r>
            <a:r>
              <a:rPr sz="1250" spc="-50" dirty="0">
                <a:latin typeface="Segoe UI Symbol"/>
                <a:cs typeface="Segoe UI Symbol"/>
              </a:rPr>
              <a:t> </a:t>
            </a:r>
            <a:r>
              <a:rPr sz="1250" spc="65" dirty="0">
                <a:solidFill>
                  <a:srgbClr val="E1E6E9"/>
                </a:solidFill>
                <a:latin typeface="Segoe UI Symbol"/>
                <a:cs typeface="Segoe UI Symbol"/>
              </a:rPr>
              <a:t>Newsletters</a:t>
            </a:r>
            <a:endParaRPr sz="1250">
              <a:latin typeface="Segoe UI Symbol"/>
              <a:cs typeface="Segoe UI 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85380" y="2111120"/>
            <a:ext cx="7874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50" dirty="0">
                <a:solidFill>
                  <a:srgbClr val="E1E6E9"/>
                </a:solidFill>
                <a:latin typeface="Segoe UI Symbol"/>
                <a:cs typeface="Segoe UI Symbol"/>
              </a:rPr>
              <a:t>•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85380" y="1770964"/>
            <a:ext cx="3804920" cy="683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08000"/>
              </a:lnSpc>
              <a:spcBef>
                <a:spcPts val="95"/>
              </a:spcBef>
              <a:buFont typeface="Segoe UI Symbol"/>
              <a:buChar char="•"/>
              <a:tabLst>
                <a:tab pos="356870" algn="l"/>
              </a:tabLst>
            </a:pPr>
            <a:r>
              <a:rPr sz="1000" b="1" spc="50" dirty="0">
                <a:solidFill>
                  <a:srgbClr val="E1E6E9"/>
                </a:solidFill>
                <a:latin typeface="Cambria"/>
                <a:cs typeface="Cambria"/>
              </a:rPr>
              <a:t>Automotive</a:t>
            </a:r>
            <a:r>
              <a:rPr sz="1000" b="1" spc="3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000" b="1" spc="60" dirty="0">
                <a:solidFill>
                  <a:srgbClr val="E1E6E9"/>
                </a:solidFill>
                <a:latin typeface="Cambria"/>
                <a:cs typeface="Cambria"/>
              </a:rPr>
              <a:t>News</a:t>
            </a:r>
            <a:r>
              <a:rPr sz="1000" b="1" spc="4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000" b="1" spc="10" dirty="0">
                <a:solidFill>
                  <a:srgbClr val="E1E6E9"/>
                </a:solidFill>
                <a:latin typeface="Cambria"/>
                <a:cs typeface="Cambria"/>
              </a:rPr>
              <a:t>Europe</a:t>
            </a:r>
            <a:r>
              <a:rPr sz="1000" b="1" spc="1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000" spc="190" dirty="0">
                <a:solidFill>
                  <a:srgbClr val="E1E6E9"/>
                </a:solidFill>
                <a:latin typeface="Segoe UI Symbol"/>
                <a:cs typeface="Segoe UI Symbol"/>
              </a:rPr>
              <a:t>—</a:t>
            </a:r>
            <a:r>
              <a:rPr sz="1000" spc="-1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u="sng" spc="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 Symbol"/>
                <a:cs typeface="Segoe UI Symbol"/>
                <a:hlinkClick r:id="rId3"/>
              </a:rPr>
              <a:t>autonews.com</a:t>
            </a:r>
            <a:r>
              <a:rPr sz="1000" spc="-90" dirty="0">
                <a:solidFill>
                  <a:srgbClr val="0462C1"/>
                </a:solidFill>
                <a:latin typeface="Segoe UI Symbol"/>
                <a:cs typeface="Segoe UI Symbol"/>
              </a:rPr>
              <a:t> </a:t>
            </a:r>
            <a:r>
              <a:rPr sz="1000" spc="130" dirty="0">
                <a:solidFill>
                  <a:srgbClr val="E1E6E9"/>
                </a:solidFill>
                <a:latin typeface="Segoe UI Symbol"/>
                <a:cs typeface="Segoe UI Symbol"/>
              </a:rPr>
              <a:t>:</a:t>
            </a:r>
            <a:r>
              <a:rPr sz="1000" spc="2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45" dirty="0">
                <a:solidFill>
                  <a:srgbClr val="E1E6E9"/>
                </a:solidFill>
                <a:latin typeface="Segoe UI Symbol"/>
                <a:cs typeface="Segoe UI Symbol"/>
              </a:rPr>
              <a:t>référence </a:t>
            </a:r>
            <a:r>
              <a:rPr sz="1000" spc="60" dirty="0">
                <a:solidFill>
                  <a:srgbClr val="E1E6E9"/>
                </a:solidFill>
                <a:latin typeface="Segoe UI Symbol"/>
                <a:cs typeface="Segoe UI Symbol"/>
              </a:rPr>
              <a:t>sectorielle</a:t>
            </a:r>
            <a:r>
              <a:rPr sz="1000" spc="-4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55" dirty="0">
                <a:solidFill>
                  <a:srgbClr val="E1E6E9"/>
                </a:solidFill>
                <a:latin typeface="Segoe UI Symbol"/>
                <a:cs typeface="Segoe UI Symbol"/>
              </a:rPr>
              <a:t>incontournable</a:t>
            </a:r>
            <a:endParaRPr sz="1000">
              <a:latin typeface="Segoe UI Symbol"/>
              <a:cs typeface="Segoe UI Symbol"/>
            </a:endParaRPr>
          </a:p>
          <a:p>
            <a:pPr marL="356870" marR="313690">
              <a:lnSpc>
                <a:spcPct val="108000"/>
              </a:lnSpc>
            </a:pPr>
            <a:r>
              <a:rPr sz="1000" b="1" spc="100" dirty="0">
                <a:solidFill>
                  <a:srgbClr val="E1E6E9"/>
                </a:solidFill>
                <a:latin typeface="Cambria"/>
                <a:cs typeface="Cambria"/>
              </a:rPr>
              <a:t>MIT</a:t>
            </a:r>
            <a:r>
              <a:rPr sz="1000" b="1" spc="3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000" b="1" spc="55" dirty="0">
                <a:solidFill>
                  <a:srgbClr val="E1E6E9"/>
                </a:solidFill>
                <a:latin typeface="Cambria"/>
                <a:cs typeface="Cambria"/>
              </a:rPr>
              <a:t>Technology</a:t>
            </a:r>
            <a:r>
              <a:rPr sz="1000" b="1" spc="2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000" b="1" spc="10" dirty="0">
                <a:solidFill>
                  <a:srgbClr val="E1E6E9"/>
                </a:solidFill>
                <a:latin typeface="Cambria"/>
                <a:cs typeface="Cambria"/>
              </a:rPr>
              <a:t>Review</a:t>
            </a:r>
            <a:r>
              <a:rPr sz="1000" b="1" spc="2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000" b="1" spc="320" dirty="0">
                <a:solidFill>
                  <a:srgbClr val="E1E6E9"/>
                </a:solidFill>
                <a:latin typeface="Cambria"/>
                <a:cs typeface="Cambria"/>
              </a:rPr>
              <a:t>–</a:t>
            </a:r>
            <a:r>
              <a:rPr sz="1000" b="1" spc="5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000" b="1" spc="55" dirty="0">
                <a:solidFill>
                  <a:srgbClr val="E1E6E9"/>
                </a:solidFill>
                <a:latin typeface="Cambria"/>
                <a:cs typeface="Cambria"/>
              </a:rPr>
              <a:t>The</a:t>
            </a:r>
            <a:r>
              <a:rPr sz="1000" b="1" spc="2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000" b="1" spc="50" dirty="0">
                <a:solidFill>
                  <a:srgbClr val="E1E6E9"/>
                </a:solidFill>
                <a:latin typeface="Cambria"/>
                <a:cs typeface="Cambria"/>
              </a:rPr>
              <a:t>Algorithm</a:t>
            </a:r>
            <a:r>
              <a:rPr sz="1000" b="1" spc="7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000" spc="140" dirty="0">
                <a:solidFill>
                  <a:srgbClr val="E1E6E9"/>
                </a:solidFill>
                <a:latin typeface="Segoe UI Symbol"/>
                <a:cs typeface="Segoe UI Symbol"/>
              </a:rPr>
              <a:t>— </a:t>
            </a:r>
            <a:r>
              <a:rPr sz="1000" u="sng" spc="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 Symbol"/>
                <a:cs typeface="Segoe UI Symbol"/>
                <a:hlinkClick r:id="rId4"/>
              </a:rPr>
              <a:t>technologyreview.com</a:t>
            </a:r>
            <a:r>
              <a:rPr sz="1000" spc="-110" dirty="0">
                <a:solidFill>
                  <a:srgbClr val="0462C1"/>
                </a:solidFill>
                <a:latin typeface="Segoe UI Symbol"/>
                <a:cs typeface="Segoe UI Symbol"/>
              </a:rPr>
              <a:t> </a:t>
            </a:r>
            <a:r>
              <a:rPr sz="1000" spc="130" dirty="0">
                <a:solidFill>
                  <a:srgbClr val="E1E6E9"/>
                </a:solidFill>
                <a:latin typeface="Segoe UI Symbol"/>
                <a:cs typeface="Segoe UI Symbol"/>
              </a:rPr>
              <a:t>:</a:t>
            </a:r>
            <a:r>
              <a:rPr sz="1000" spc="-1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90" dirty="0">
                <a:solidFill>
                  <a:srgbClr val="E1E6E9"/>
                </a:solidFill>
                <a:latin typeface="Segoe UI Symbol"/>
                <a:cs typeface="Segoe UI Symbol"/>
              </a:rPr>
              <a:t>IA</a:t>
            </a:r>
            <a:r>
              <a:rPr sz="1000" spc="-5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50" dirty="0">
                <a:solidFill>
                  <a:srgbClr val="E1E6E9"/>
                </a:solidFill>
                <a:latin typeface="Segoe UI Symbol"/>
                <a:cs typeface="Segoe UI Symbol"/>
              </a:rPr>
              <a:t>appliquée</a:t>
            </a:r>
            <a:r>
              <a:rPr sz="100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50" dirty="0">
                <a:solidFill>
                  <a:srgbClr val="E1E6E9"/>
                </a:solidFill>
                <a:latin typeface="Segoe UI Symbol"/>
                <a:cs typeface="Segoe UI Symbol"/>
              </a:rPr>
              <a:t>à</a:t>
            </a:r>
            <a:r>
              <a:rPr sz="1000" spc="-2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75" dirty="0">
                <a:solidFill>
                  <a:srgbClr val="E1E6E9"/>
                </a:solidFill>
                <a:latin typeface="Segoe UI Symbol"/>
                <a:cs typeface="Segoe UI Symbol"/>
              </a:rPr>
              <a:t>la</a:t>
            </a:r>
            <a:r>
              <a:rPr sz="1000" spc="-4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60" dirty="0">
                <a:solidFill>
                  <a:srgbClr val="E1E6E9"/>
                </a:solidFill>
                <a:latin typeface="Segoe UI Symbol"/>
                <a:cs typeface="Segoe UI Symbol"/>
              </a:rPr>
              <a:t>mobilité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03448" y="2721864"/>
            <a:ext cx="8223884" cy="9525"/>
          </a:xfrm>
          <a:custGeom>
            <a:avLst/>
            <a:gdLst/>
            <a:ahLst/>
            <a:cxnLst/>
            <a:rect l="l" t="t" r="r" b="b"/>
            <a:pathLst>
              <a:path w="8223884" h="9525">
                <a:moveTo>
                  <a:pt x="8223504" y="0"/>
                </a:moveTo>
                <a:lnTo>
                  <a:pt x="0" y="0"/>
                </a:lnTo>
                <a:lnTo>
                  <a:pt x="0" y="9144"/>
                </a:lnTo>
                <a:lnTo>
                  <a:pt x="8223504" y="9144"/>
                </a:lnTo>
                <a:lnTo>
                  <a:pt x="8223504" y="0"/>
                </a:lnTo>
                <a:close/>
              </a:path>
            </a:pathLst>
          </a:custGeom>
          <a:solidFill>
            <a:srgbClr val="E1E6E9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3188207" y="3188207"/>
            <a:ext cx="3121660" cy="1225550"/>
            <a:chOff x="3188207" y="3188207"/>
            <a:chExt cx="3121660" cy="1225550"/>
          </a:xfrm>
        </p:grpSpPr>
        <p:sp>
          <p:nvSpPr>
            <p:cNvPr id="15" name="object 15"/>
            <p:cNvSpPr/>
            <p:nvPr/>
          </p:nvSpPr>
          <p:spPr>
            <a:xfrm>
              <a:off x="3204971" y="3195827"/>
              <a:ext cx="3096895" cy="1210310"/>
            </a:xfrm>
            <a:custGeom>
              <a:avLst/>
              <a:gdLst/>
              <a:ahLst/>
              <a:cxnLst/>
              <a:rect l="l" t="t" r="r" b="b"/>
              <a:pathLst>
                <a:path w="3096895" h="1210310">
                  <a:moveTo>
                    <a:pt x="3023616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136904"/>
                  </a:lnTo>
                  <a:lnTo>
                    <a:pt x="5750" y="1165371"/>
                  </a:lnTo>
                  <a:lnTo>
                    <a:pt x="21431" y="1188624"/>
                  </a:lnTo>
                  <a:lnTo>
                    <a:pt x="44684" y="1204305"/>
                  </a:lnTo>
                  <a:lnTo>
                    <a:pt x="73151" y="1210056"/>
                  </a:lnTo>
                  <a:lnTo>
                    <a:pt x="3023616" y="1210056"/>
                  </a:lnTo>
                  <a:lnTo>
                    <a:pt x="3052083" y="1204305"/>
                  </a:lnTo>
                  <a:lnTo>
                    <a:pt x="3075336" y="1188624"/>
                  </a:lnTo>
                  <a:lnTo>
                    <a:pt x="3091017" y="1165371"/>
                  </a:lnTo>
                  <a:lnTo>
                    <a:pt x="3096767" y="1136904"/>
                  </a:lnTo>
                  <a:lnTo>
                    <a:pt x="3096767" y="73151"/>
                  </a:lnTo>
                  <a:lnTo>
                    <a:pt x="3091017" y="44684"/>
                  </a:lnTo>
                  <a:lnTo>
                    <a:pt x="3075336" y="21431"/>
                  </a:lnTo>
                  <a:lnTo>
                    <a:pt x="3052083" y="5750"/>
                  </a:lnTo>
                  <a:lnTo>
                    <a:pt x="3023616" y="0"/>
                  </a:lnTo>
                  <a:close/>
                </a:path>
              </a:pathLst>
            </a:custGeom>
            <a:solidFill>
              <a:srgbClr val="09151A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04971" y="3195827"/>
              <a:ext cx="3096895" cy="1210310"/>
            </a:xfrm>
            <a:custGeom>
              <a:avLst/>
              <a:gdLst/>
              <a:ahLst/>
              <a:cxnLst/>
              <a:rect l="l" t="t" r="r" b="b"/>
              <a:pathLst>
                <a:path w="3096895" h="121031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023616" y="0"/>
                  </a:lnTo>
                  <a:lnTo>
                    <a:pt x="3052083" y="5750"/>
                  </a:lnTo>
                  <a:lnTo>
                    <a:pt x="3075336" y="21431"/>
                  </a:lnTo>
                  <a:lnTo>
                    <a:pt x="3091017" y="44684"/>
                  </a:lnTo>
                  <a:lnTo>
                    <a:pt x="3096767" y="73151"/>
                  </a:lnTo>
                  <a:lnTo>
                    <a:pt x="3096767" y="1136904"/>
                  </a:lnTo>
                  <a:lnTo>
                    <a:pt x="3091017" y="1165371"/>
                  </a:lnTo>
                  <a:lnTo>
                    <a:pt x="3075336" y="1188624"/>
                  </a:lnTo>
                  <a:lnTo>
                    <a:pt x="3052083" y="1204305"/>
                  </a:lnTo>
                  <a:lnTo>
                    <a:pt x="3023616" y="1210056"/>
                  </a:lnTo>
                  <a:lnTo>
                    <a:pt x="73151" y="1210056"/>
                  </a:lnTo>
                  <a:lnTo>
                    <a:pt x="44684" y="1204305"/>
                  </a:lnTo>
                  <a:lnTo>
                    <a:pt x="21431" y="1188624"/>
                  </a:lnTo>
                  <a:lnTo>
                    <a:pt x="5750" y="1165371"/>
                  </a:lnTo>
                  <a:lnTo>
                    <a:pt x="0" y="1136904"/>
                  </a:lnTo>
                  <a:lnTo>
                    <a:pt x="0" y="73151"/>
                  </a:lnTo>
                  <a:close/>
                </a:path>
              </a:pathLst>
            </a:custGeom>
            <a:ln w="1524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88207" y="3194303"/>
              <a:ext cx="60960" cy="1210310"/>
            </a:xfrm>
            <a:custGeom>
              <a:avLst/>
              <a:gdLst/>
              <a:ahLst/>
              <a:cxnLst/>
              <a:rect l="l" t="t" r="r" b="b"/>
              <a:pathLst>
                <a:path w="60960" h="1210310">
                  <a:moveTo>
                    <a:pt x="30480" y="0"/>
                  </a:moveTo>
                  <a:lnTo>
                    <a:pt x="18591" y="2387"/>
                  </a:lnTo>
                  <a:lnTo>
                    <a:pt x="8905" y="8905"/>
                  </a:lnTo>
                  <a:lnTo>
                    <a:pt x="2387" y="18591"/>
                  </a:lnTo>
                  <a:lnTo>
                    <a:pt x="0" y="30480"/>
                  </a:lnTo>
                  <a:lnTo>
                    <a:pt x="0" y="1179576"/>
                  </a:lnTo>
                  <a:lnTo>
                    <a:pt x="2387" y="1191464"/>
                  </a:lnTo>
                  <a:lnTo>
                    <a:pt x="8905" y="1201150"/>
                  </a:lnTo>
                  <a:lnTo>
                    <a:pt x="18591" y="1207668"/>
                  </a:lnTo>
                  <a:lnTo>
                    <a:pt x="30480" y="1210056"/>
                  </a:lnTo>
                  <a:lnTo>
                    <a:pt x="42368" y="1207668"/>
                  </a:lnTo>
                  <a:lnTo>
                    <a:pt x="52054" y="1201150"/>
                  </a:lnTo>
                  <a:lnTo>
                    <a:pt x="58572" y="1191464"/>
                  </a:lnTo>
                  <a:lnTo>
                    <a:pt x="60960" y="1179576"/>
                  </a:lnTo>
                  <a:lnTo>
                    <a:pt x="60960" y="30480"/>
                  </a:lnTo>
                  <a:lnTo>
                    <a:pt x="58572" y="18591"/>
                  </a:lnTo>
                  <a:lnTo>
                    <a:pt x="52054" y="8905"/>
                  </a:lnTo>
                  <a:lnTo>
                    <a:pt x="42368" y="2387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5F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188207" y="4468367"/>
            <a:ext cx="3121660" cy="1222375"/>
            <a:chOff x="3188207" y="4468367"/>
            <a:chExt cx="3121660" cy="1222375"/>
          </a:xfrm>
        </p:grpSpPr>
        <p:sp>
          <p:nvSpPr>
            <p:cNvPr id="19" name="object 19"/>
            <p:cNvSpPr/>
            <p:nvPr/>
          </p:nvSpPr>
          <p:spPr>
            <a:xfrm>
              <a:off x="3204971" y="4475987"/>
              <a:ext cx="3096895" cy="1207135"/>
            </a:xfrm>
            <a:custGeom>
              <a:avLst/>
              <a:gdLst/>
              <a:ahLst/>
              <a:cxnLst/>
              <a:rect l="l" t="t" r="r" b="b"/>
              <a:pathLst>
                <a:path w="3096895" h="1207135">
                  <a:moveTo>
                    <a:pt x="3023742" y="0"/>
                  </a:moveTo>
                  <a:lnTo>
                    <a:pt x="73025" y="0"/>
                  </a:lnTo>
                  <a:lnTo>
                    <a:pt x="44576" y="5730"/>
                  </a:lnTo>
                  <a:lnTo>
                    <a:pt x="21367" y="21367"/>
                  </a:lnTo>
                  <a:lnTo>
                    <a:pt x="5730" y="44576"/>
                  </a:lnTo>
                  <a:lnTo>
                    <a:pt x="0" y="73025"/>
                  </a:lnTo>
                  <a:lnTo>
                    <a:pt x="0" y="1133983"/>
                  </a:lnTo>
                  <a:lnTo>
                    <a:pt x="5730" y="1162431"/>
                  </a:lnTo>
                  <a:lnTo>
                    <a:pt x="21367" y="1185640"/>
                  </a:lnTo>
                  <a:lnTo>
                    <a:pt x="44576" y="1201277"/>
                  </a:lnTo>
                  <a:lnTo>
                    <a:pt x="73025" y="1207008"/>
                  </a:lnTo>
                  <a:lnTo>
                    <a:pt x="3023742" y="1207008"/>
                  </a:lnTo>
                  <a:lnTo>
                    <a:pt x="3052191" y="1201277"/>
                  </a:lnTo>
                  <a:lnTo>
                    <a:pt x="3075400" y="1185640"/>
                  </a:lnTo>
                  <a:lnTo>
                    <a:pt x="3091037" y="1162431"/>
                  </a:lnTo>
                  <a:lnTo>
                    <a:pt x="3096767" y="1133983"/>
                  </a:lnTo>
                  <a:lnTo>
                    <a:pt x="3096767" y="73025"/>
                  </a:lnTo>
                  <a:lnTo>
                    <a:pt x="3091037" y="44576"/>
                  </a:lnTo>
                  <a:lnTo>
                    <a:pt x="3075400" y="21367"/>
                  </a:lnTo>
                  <a:lnTo>
                    <a:pt x="3052191" y="5730"/>
                  </a:lnTo>
                  <a:lnTo>
                    <a:pt x="3023742" y="0"/>
                  </a:lnTo>
                  <a:close/>
                </a:path>
              </a:pathLst>
            </a:custGeom>
            <a:solidFill>
              <a:srgbClr val="09151A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04971" y="4475987"/>
              <a:ext cx="3096895" cy="1207135"/>
            </a:xfrm>
            <a:custGeom>
              <a:avLst/>
              <a:gdLst/>
              <a:ahLst/>
              <a:cxnLst/>
              <a:rect l="l" t="t" r="r" b="b"/>
              <a:pathLst>
                <a:path w="3096895" h="1207135">
                  <a:moveTo>
                    <a:pt x="0" y="73025"/>
                  </a:moveTo>
                  <a:lnTo>
                    <a:pt x="5730" y="44576"/>
                  </a:lnTo>
                  <a:lnTo>
                    <a:pt x="21367" y="21367"/>
                  </a:lnTo>
                  <a:lnTo>
                    <a:pt x="44576" y="5730"/>
                  </a:lnTo>
                  <a:lnTo>
                    <a:pt x="73025" y="0"/>
                  </a:lnTo>
                  <a:lnTo>
                    <a:pt x="3023742" y="0"/>
                  </a:lnTo>
                  <a:lnTo>
                    <a:pt x="3052191" y="5730"/>
                  </a:lnTo>
                  <a:lnTo>
                    <a:pt x="3075400" y="21367"/>
                  </a:lnTo>
                  <a:lnTo>
                    <a:pt x="3091037" y="44576"/>
                  </a:lnTo>
                  <a:lnTo>
                    <a:pt x="3096767" y="73025"/>
                  </a:lnTo>
                  <a:lnTo>
                    <a:pt x="3096767" y="1133983"/>
                  </a:lnTo>
                  <a:lnTo>
                    <a:pt x="3091037" y="1162431"/>
                  </a:lnTo>
                  <a:lnTo>
                    <a:pt x="3075400" y="1185640"/>
                  </a:lnTo>
                  <a:lnTo>
                    <a:pt x="3052191" y="1201277"/>
                  </a:lnTo>
                  <a:lnTo>
                    <a:pt x="3023742" y="1207008"/>
                  </a:lnTo>
                  <a:lnTo>
                    <a:pt x="73025" y="1207008"/>
                  </a:lnTo>
                  <a:lnTo>
                    <a:pt x="44576" y="1201277"/>
                  </a:lnTo>
                  <a:lnTo>
                    <a:pt x="21367" y="1185640"/>
                  </a:lnTo>
                  <a:lnTo>
                    <a:pt x="5730" y="1162431"/>
                  </a:lnTo>
                  <a:lnTo>
                    <a:pt x="0" y="1133983"/>
                  </a:lnTo>
                  <a:lnTo>
                    <a:pt x="0" y="73025"/>
                  </a:lnTo>
                  <a:close/>
                </a:path>
              </a:pathLst>
            </a:custGeom>
            <a:ln w="1524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88207" y="4474463"/>
              <a:ext cx="60960" cy="1207135"/>
            </a:xfrm>
            <a:custGeom>
              <a:avLst/>
              <a:gdLst/>
              <a:ahLst/>
              <a:cxnLst/>
              <a:rect l="l" t="t" r="r" b="b"/>
              <a:pathLst>
                <a:path w="60960" h="1207135">
                  <a:moveTo>
                    <a:pt x="30480" y="0"/>
                  </a:moveTo>
                  <a:lnTo>
                    <a:pt x="18591" y="2387"/>
                  </a:lnTo>
                  <a:lnTo>
                    <a:pt x="8905" y="8905"/>
                  </a:lnTo>
                  <a:lnTo>
                    <a:pt x="2387" y="18591"/>
                  </a:lnTo>
                  <a:lnTo>
                    <a:pt x="0" y="30480"/>
                  </a:lnTo>
                  <a:lnTo>
                    <a:pt x="0" y="1176528"/>
                  </a:lnTo>
                  <a:lnTo>
                    <a:pt x="2387" y="1188416"/>
                  </a:lnTo>
                  <a:lnTo>
                    <a:pt x="8905" y="1198102"/>
                  </a:lnTo>
                  <a:lnTo>
                    <a:pt x="18591" y="1204620"/>
                  </a:lnTo>
                  <a:lnTo>
                    <a:pt x="30480" y="1207008"/>
                  </a:lnTo>
                  <a:lnTo>
                    <a:pt x="42368" y="1204620"/>
                  </a:lnTo>
                  <a:lnTo>
                    <a:pt x="52054" y="1198102"/>
                  </a:lnTo>
                  <a:lnTo>
                    <a:pt x="58572" y="1188416"/>
                  </a:lnTo>
                  <a:lnTo>
                    <a:pt x="60960" y="1176528"/>
                  </a:lnTo>
                  <a:lnTo>
                    <a:pt x="60960" y="30480"/>
                  </a:lnTo>
                  <a:lnTo>
                    <a:pt x="58572" y="18591"/>
                  </a:lnTo>
                  <a:lnTo>
                    <a:pt x="52054" y="8905"/>
                  </a:lnTo>
                  <a:lnTo>
                    <a:pt x="42368" y="2387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5F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233166" y="2893009"/>
            <a:ext cx="2924810" cy="2660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latin typeface="Segoe UI Symbol"/>
                <a:cs typeface="Segoe UI Symbol"/>
              </a:rPr>
              <a:t>□</a:t>
            </a:r>
            <a:r>
              <a:rPr sz="1250" spc="-50" dirty="0"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F5EFEF"/>
                </a:solidFill>
                <a:latin typeface="Segoe UI Symbol"/>
                <a:cs typeface="Segoe UI Symbol"/>
              </a:rPr>
              <a:t>Podcasts</a:t>
            </a:r>
            <a:r>
              <a:rPr sz="1250" spc="-10" dirty="0">
                <a:solidFill>
                  <a:srgbClr val="F5EFEF"/>
                </a:solidFill>
                <a:latin typeface="Segoe UI Symbol"/>
                <a:cs typeface="Segoe UI Symbol"/>
              </a:rPr>
              <a:t> </a:t>
            </a:r>
            <a:r>
              <a:rPr sz="1250" spc="60" dirty="0">
                <a:solidFill>
                  <a:srgbClr val="F5EFEF"/>
                </a:solidFill>
                <a:latin typeface="Segoe UI Symbol"/>
                <a:cs typeface="Segoe UI Symbol"/>
              </a:rPr>
              <a:t>à</a:t>
            </a:r>
            <a:r>
              <a:rPr sz="1250" spc="-30" dirty="0">
                <a:solidFill>
                  <a:srgbClr val="F5EFEF"/>
                </a:solidFill>
                <a:latin typeface="Segoe UI Symbol"/>
                <a:cs typeface="Segoe UI Symbol"/>
              </a:rPr>
              <a:t> </a:t>
            </a:r>
            <a:r>
              <a:rPr sz="1250" spc="45" dirty="0">
                <a:solidFill>
                  <a:srgbClr val="F5EFEF"/>
                </a:solidFill>
                <a:latin typeface="Segoe UI Symbol"/>
                <a:cs typeface="Segoe UI Symbol"/>
              </a:rPr>
              <a:t>écouter</a:t>
            </a:r>
            <a:endParaRPr sz="12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250">
              <a:latin typeface="Segoe UI Symbol"/>
              <a:cs typeface="Segoe UI Symbol"/>
            </a:endParaRPr>
          </a:p>
          <a:p>
            <a:pPr marL="161925">
              <a:lnSpc>
                <a:spcPct val="100000"/>
              </a:lnSpc>
            </a:pPr>
            <a:r>
              <a:rPr sz="1250" spc="105" dirty="0">
                <a:solidFill>
                  <a:srgbClr val="E1E6E9"/>
                </a:solidFill>
                <a:latin typeface="Segoe UI Symbol"/>
                <a:cs typeface="Segoe UI Symbol"/>
              </a:rPr>
              <a:t>The</a:t>
            </a:r>
            <a:r>
              <a:rPr sz="1250" spc="-3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250" spc="55" dirty="0">
                <a:solidFill>
                  <a:srgbClr val="E1E6E9"/>
                </a:solidFill>
                <a:latin typeface="Segoe UI Symbol"/>
                <a:cs typeface="Segoe UI Symbol"/>
              </a:rPr>
              <a:t>Autonocast</a:t>
            </a:r>
            <a:endParaRPr sz="1250">
              <a:latin typeface="Segoe UI Symbol"/>
              <a:cs typeface="Segoe UI Symbol"/>
            </a:endParaRPr>
          </a:p>
          <a:p>
            <a:pPr marL="161925" marR="40640">
              <a:lnSpc>
                <a:spcPct val="108100"/>
              </a:lnSpc>
              <a:spcBef>
                <a:spcPts val="600"/>
              </a:spcBef>
            </a:pPr>
            <a:r>
              <a:rPr sz="1000" spc="90" dirty="0">
                <a:solidFill>
                  <a:srgbClr val="E1E6E9"/>
                </a:solidFill>
                <a:latin typeface="Segoe UI Symbol"/>
                <a:cs typeface="Segoe UI Symbol"/>
              </a:rPr>
              <a:t>Le</a:t>
            </a:r>
            <a:r>
              <a:rPr sz="1000" spc="-5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50" dirty="0">
                <a:solidFill>
                  <a:srgbClr val="E1E6E9"/>
                </a:solidFill>
                <a:latin typeface="Segoe UI Symbol"/>
                <a:cs typeface="Segoe UI Symbol"/>
              </a:rPr>
              <a:t>podcast</a:t>
            </a:r>
            <a:r>
              <a:rPr sz="1000" spc="-5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E1E6E9"/>
                </a:solidFill>
                <a:latin typeface="Segoe UI Symbol"/>
                <a:cs typeface="Segoe UI Symbol"/>
              </a:rPr>
              <a:t>de</a:t>
            </a:r>
            <a:r>
              <a:rPr sz="1000" spc="-2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60" dirty="0">
                <a:solidFill>
                  <a:srgbClr val="E1E6E9"/>
                </a:solidFill>
                <a:latin typeface="Segoe UI Symbol"/>
                <a:cs typeface="Segoe UI Symbol"/>
              </a:rPr>
              <a:t>référence</a:t>
            </a:r>
            <a:r>
              <a:rPr sz="100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65" dirty="0">
                <a:solidFill>
                  <a:srgbClr val="E1E6E9"/>
                </a:solidFill>
                <a:latin typeface="Segoe UI Symbol"/>
                <a:cs typeface="Segoe UI Symbol"/>
              </a:rPr>
              <a:t>en</a:t>
            </a:r>
            <a:r>
              <a:rPr sz="1000" spc="-2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75" dirty="0">
                <a:solidFill>
                  <a:srgbClr val="E1E6E9"/>
                </a:solidFill>
                <a:latin typeface="Segoe UI Symbol"/>
                <a:cs typeface="Segoe UI Symbol"/>
              </a:rPr>
              <a:t>anglais</a:t>
            </a:r>
            <a:r>
              <a:rPr sz="1000" spc="-7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85" dirty="0">
                <a:solidFill>
                  <a:srgbClr val="E1E6E9"/>
                </a:solidFill>
                <a:latin typeface="Segoe UI Symbol"/>
                <a:cs typeface="Segoe UI Symbol"/>
              </a:rPr>
              <a:t>sur</a:t>
            </a:r>
            <a:r>
              <a:rPr sz="1000" spc="-5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50" dirty="0">
                <a:solidFill>
                  <a:srgbClr val="E1E6E9"/>
                </a:solidFill>
                <a:latin typeface="Segoe UI Symbol"/>
                <a:cs typeface="Segoe UI Symbol"/>
              </a:rPr>
              <a:t>la </a:t>
            </a:r>
            <a:r>
              <a:rPr sz="1000" spc="60" dirty="0">
                <a:solidFill>
                  <a:srgbClr val="E1E6E9"/>
                </a:solidFill>
                <a:latin typeface="Segoe UI Symbol"/>
                <a:cs typeface="Segoe UI Symbol"/>
              </a:rPr>
              <a:t>conduite</a:t>
            </a:r>
            <a:r>
              <a:rPr sz="1000" spc="-4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65" dirty="0">
                <a:solidFill>
                  <a:srgbClr val="E1E6E9"/>
                </a:solidFill>
                <a:latin typeface="Segoe UI Symbol"/>
                <a:cs typeface="Segoe UI Symbol"/>
              </a:rPr>
              <a:t>autonome.</a:t>
            </a:r>
            <a:r>
              <a:rPr sz="1000" spc="-7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70" dirty="0">
                <a:solidFill>
                  <a:srgbClr val="E1E6E9"/>
                </a:solidFill>
                <a:latin typeface="Segoe UI Symbol"/>
                <a:cs typeface="Segoe UI Symbol"/>
              </a:rPr>
              <a:t>Analyses</a:t>
            </a:r>
            <a:r>
              <a:rPr sz="1000" spc="-1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E1E6E9"/>
                </a:solidFill>
                <a:latin typeface="Segoe UI Symbol"/>
                <a:cs typeface="Segoe UI Symbol"/>
              </a:rPr>
              <a:t>des</a:t>
            </a:r>
            <a:r>
              <a:rPr sz="1000" spc="-2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50" dirty="0">
                <a:solidFill>
                  <a:srgbClr val="E1E6E9"/>
                </a:solidFill>
                <a:latin typeface="Segoe UI Symbol"/>
                <a:cs typeface="Segoe UI Symbol"/>
              </a:rPr>
              <a:t>dernières </a:t>
            </a:r>
            <a:r>
              <a:rPr sz="1000" spc="70" dirty="0">
                <a:solidFill>
                  <a:srgbClr val="E1E6E9"/>
                </a:solidFill>
                <a:latin typeface="Segoe UI Symbol"/>
                <a:cs typeface="Segoe UI Symbol"/>
              </a:rPr>
              <a:t>nouvelles,</a:t>
            </a:r>
            <a:r>
              <a:rPr sz="1000" spc="-6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50" dirty="0">
                <a:solidFill>
                  <a:srgbClr val="E1E6E9"/>
                </a:solidFill>
                <a:latin typeface="Segoe UI Symbol"/>
                <a:cs typeface="Segoe UI Symbol"/>
              </a:rPr>
              <a:t>débats</a:t>
            </a:r>
            <a:r>
              <a:rPr sz="1000" spc="-4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70" dirty="0">
                <a:solidFill>
                  <a:srgbClr val="E1E6E9"/>
                </a:solidFill>
                <a:latin typeface="Segoe UI Symbol"/>
                <a:cs typeface="Segoe UI Symbol"/>
              </a:rPr>
              <a:t>d'experts</a:t>
            </a:r>
            <a:r>
              <a:rPr sz="1000" spc="-4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E1E6E9"/>
                </a:solidFill>
                <a:latin typeface="Segoe UI Symbol"/>
                <a:cs typeface="Segoe UI Symbol"/>
              </a:rPr>
              <a:t>et </a:t>
            </a:r>
            <a:r>
              <a:rPr sz="1000" spc="60" dirty="0">
                <a:solidFill>
                  <a:srgbClr val="E1E6E9"/>
                </a:solidFill>
                <a:latin typeface="Segoe UI Symbol"/>
                <a:cs typeface="Segoe UI Symbol"/>
              </a:rPr>
              <a:t>tendances</a:t>
            </a:r>
            <a:r>
              <a:rPr sz="1000" spc="-6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-25" dirty="0">
                <a:solidFill>
                  <a:srgbClr val="E1E6E9"/>
                </a:solidFill>
                <a:latin typeface="Segoe UI Symbol"/>
                <a:cs typeface="Segoe UI Symbol"/>
              </a:rPr>
              <a:t>de </a:t>
            </a:r>
            <a:r>
              <a:rPr sz="1000" spc="65" dirty="0">
                <a:solidFill>
                  <a:srgbClr val="E1E6E9"/>
                </a:solidFill>
                <a:latin typeface="Segoe UI Symbol"/>
                <a:cs typeface="Segoe UI Symbol"/>
              </a:rPr>
              <a:t>l'industrie.</a:t>
            </a:r>
            <a:endParaRPr sz="10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</a:pPr>
            <a:endParaRPr sz="10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000">
              <a:latin typeface="Segoe UI Symbol"/>
              <a:cs typeface="Segoe UI Symbol"/>
            </a:endParaRPr>
          </a:p>
          <a:p>
            <a:pPr marL="161925">
              <a:lnSpc>
                <a:spcPct val="100000"/>
              </a:lnSpc>
              <a:spcBef>
                <a:spcPts val="5"/>
              </a:spcBef>
            </a:pPr>
            <a:r>
              <a:rPr sz="1250" spc="125" dirty="0">
                <a:solidFill>
                  <a:srgbClr val="E1E6E9"/>
                </a:solidFill>
                <a:latin typeface="Segoe UI Symbol"/>
                <a:cs typeface="Segoe UI Symbol"/>
              </a:rPr>
              <a:t>Lex</a:t>
            </a:r>
            <a:r>
              <a:rPr sz="1250" spc="-3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250" spc="105" dirty="0">
                <a:solidFill>
                  <a:srgbClr val="E1E6E9"/>
                </a:solidFill>
                <a:latin typeface="Segoe UI Symbol"/>
                <a:cs typeface="Segoe UI Symbol"/>
              </a:rPr>
              <a:t>Fridman</a:t>
            </a:r>
            <a:r>
              <a:rPr sz="1250" spc="-1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250" spc="50" dirty="0">
                <a:solidFill>
                  <a:srgbClr val="E1E6E9"/>
                </a:solidFill>
                <a:latin typeface="Segoe UI Symbol"/>
                <a:cs typeface="Segoe UI Symbol"/>
              </a:rPr>
              <a:t>Podcast</a:t>
            </a:r>
            <a:endParaRPr sz="1250">
              <a:latin typeface="Segoe UI Symbol"/>
              <a:cs typeface="Segoe UI Symbol"/>
            </a:endParaRPr>
          </a:p>
          <a:p>
            <a:pPr marL="161925" marR="5080">
              <a:lnSpc>
                <a:spcPct val="108000"/>
              </a:lnSpc>
              <a:spcBef>
                <a:spcPts val="600"/>
              </a:spcBef>
            </a:pPr>
            <a:r>
              <a:rPr sz="1000" spc="80" dirty="0">
                <a:solidFill>
                  <a:srgbClr val="E1E6E9"/>
                </a:solidFill>
                <a:latin typeface="Segoe UI Symbol"/>
                <a:cs typeface="Segoe UI Symbol"/>
              </a:rPr>
              <a:t>Interviews</a:t>
            </a:r>
            <a:r>
              <a:rPr sz="1000" spc="-1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55" dirty="0">
                <a:solidFill>
                  <a:srgbClr val="E1E6E9"/>
                </a:solidFill>
                <a:latin typeface="Segoe UI Symbol"/>
                <a:cs typeface="Segoe UI Symbol"/>
              </a:rPr>
              <a:t>approfondies</a:t>
            </a:r>
            <a:r>
              <a:rPr sz="1000" spc="-4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55" dirty="0">
                <a:solidFill>
                  <a:srgbClr val="E1E6E9"/>
                </a:solidFill>
                <a:latin typeface="Segoe UI Symbol"/>
                <a:cs typeface="Segoe UI Symbol"/>
              </a:rPr>
              <a:t>avec</a:t>
            </a:r>
            <a:r>
              <a:rPr sz="1000" spc="-2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E1E6E9"/>
                </a:solidFill>
                <a:latin typeface="Segoe UI Symbol"/>
                <a:cs typeface="Segoe UI Symbol"/>
              </a:rPr>
              <a:t>des</a:t>
            </a:r>
            <a:r>
              <a:rPr sz="1000" spc="-1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55" dirty="0">
                <a:solidFill>
                  <a:srgbClr val="E1E6E9"/>
                </a:solidFill>
                <a:latin typeface="Segoe UI Symbol"/>
                <a:cs typeface="Segoe UI Symbol"/>
              </a:rPr>
              <a:t>leaders</a:t>
            </a:r>
            <a:r>
              <a:rPr sz="1000" spc="1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-25" dirty="0">
                <a:solidFill>
                  <a:srgbClr val="E1E6E9"/>
                </a:solidFill>
                <a:latin typeface="Segoe UI Symbol"/>
                <a:cs typeface="Segoe UI Symbol"/>
              </a:rPr>
              <a:t>de </a:t>
            </a:r>
            <a:r>
              <a:rPr sz="1000" spc="100" dirty="0">
                <a:solidFill>
                  <a:srgbClr val="E1E6E9"/>
                </a:solidFill>
                <a:latin typeface="Segoe UI Symbol"/>
                <a:cs typeface="Segoe UI Symbol"/>
              </a:rPr>
              <a:t>l'IA</a:t>
            </a:r>
            <a:r>
              <a:rPr sz="1000" spc="-3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E1E6E9"/>
                </a:solidFill>
                <a:latin typeface="Segoe UI Symbol"/>
                <a:cs typeface="Segoe UI Symbol"/>
              </a:rPr>
              <a:t>et de </a:t>
            </a:r>
            <a:r>
              <a:rPr sz="1000" spc="75" dirty="0">
                <a:solidFill>
                  <a:srgbClr val="E1E6E9"/>
                </a:solidFill>
                <a:latin typeface="Segoe UI Symbol"/>
                <a:cs typeface="Segoe UI Symbol"/>
              </a:rPr>
              <a:t>la</a:t>
            </a:r>
            <a:r>
              <a:rPr sz="1000" spc="-1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50" dirty="0">
                <a:solidFill>
                  <a:srgbClr val="E1E6E9"/>
                </a:solidFill>
                <a:latin typeface="Segoe UI Symbol"/>
                <a:cs typeface="Segoe UI Symbol"/>
              </a:rPr>
              <a:t>robotique</a:t>
            </a:r>
            <a:r>
              <a:rPr sz="1000" spc="-4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190" dirty="0">
                <a:solidFill>
                  <a:srgbClr val="E1E6E9"/>
                </a:solidFill>
                <a:latin typeface="Segoe UI Symbol"/>
                <a:cs typeface="Segoe UI Symbol"/>
              </a:rPr>
              <a:t>—</a:t>
            </a:r>
            <a:r>
              <a:rPr sz="1000" spc="-2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70" dirty="0">
                <a:solidFill>
                  <a:srgbClr val="E1E6E9"/>
                </a:solidFill>
                <a:latin typeface="Segoe UI Symbol"/>
                <a:cs typeface="Segoe UI Symbol"/>
              </a:rPr>
              <a:t>ingénieurs</a:t>
            </a:r>
            <a:r>
              <a:rPr sz="1000" spc="-3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-25" dirty="0">
                <a:solidFill>
                  <a:srgbClr val="E1E6E9"/>
                </a:solidFill>
                <a:latin typeface="Segoe UI Symbol"/>
                <a:cs typeface="Segoe UI Symbol"/>
              </a:rPr>
              <a:t>de </a:t>
            </a:r>
            <a:r>
              <a:rPr sz="1000" spc="90" dirty="0">
                <a:solidFill>
                  <a:srgbClr val="E1E6E9"/>
                </a:solidFill>
                <a:latin typeface="Segoe UI Symbol"/>
                <a:cs typeface="Segoe UI Symbol"/>
              </a:rPr>
              <a:t>Tesla,</a:t>
            </a:r>
            <a:r>
              <a:rPr sz="1000" spc="-2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70" dirty="0">
                <a:solidFill>
                  <a:srgbClr val="E1E6E9"/>
                </a:solidFill>
                <a:latin typeface="Segoe UI Symbol"/>
                <a:cs typeface="Segoe UI Symbol"/>
              </a:rPr>
              <a:t>chercheurs</a:t>
            </a:r>
            <a:r>
              <a:rPr sz="1000" spc="-8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60" dirty="0">
                <a:solidFill>
                  <a:srgbClr val="E1E6E9"/>
                </a:solidFill>
                <a:latin typeface="Segoe UI Symbol"/>
                <a:cs typeface="Segoe UI Symbol"/>
              </a:rPr>
              <a:t>en</a:t>
            </a:r>
            <a:r>
              <a:rPr sz="1000" spc="1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E1E6E9"/>
                </a:solidFill>
                <a:latin typeface="Segoe UI Symbol"/>
                <a:cs typeface="Segoe UI Symbol"/>
              </a:rPr>
              <a:t>deep </a:t>
            </a:r>
            <a:r>
              <a:rPr sz="1000" spc="70" dirty="0">
                <a:solidFill>
                  <a:srgbClr val="E1E6E9"/>
                </a:solidFill>
                <a:latin typeface="Segoe UI Symbol"/>
                <a:cs typeface="Segoe UI Symbol"/>
              </a:rPr>
              <a:t>learning, </a:t>
            </a:r>
            <a:r>
              <a:rPr sz="1000" spc="65" dirty="0">
                <a:solidFill>
                  <a:srgbClr val="E1E6E9"/>
                </a:solidFill>
                <a:latin typeface="Segoe UI Symbol"/>
                <a:cs typeface="Segoe UI Symbol"/>
              </a:rPr>
              <a:t>fondateurs</a:t>
            </a:r>
            <a:r>
              <a:rPr sz="100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E1E6E9"/>
                </a:solidFill>
                <a:latin typeface="Segoe UI Symbol"/>
                <a:cs typeface="Segoe UI Symbol"/>
              </a:rPr>
              <a:t>de</a:t>
            </a:r>
            <a:r>
              <a:rPr sz="1000" spc="-1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70" dirty="0">
                <a:solidFill>
                  <a:srgbClr val="E1E6E9"/>
                </a:solidFill>
                <a:latin typeface="Segoe UI Symbol"/>
                <a:cs typeface="Segoe UI Symbol"/>
              </a:rPr>
              <a:t>startups</a:t>
            </a:r>
            <a:r>
              <a:rPr sz="1000" spc="-4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000" spc="55" dirty="0">
                <a:solidFill>
                  <a:srgbClr val="E1E6E9"/>
                </a:solidFill>
                <a:latin typeface="Segoe UI Symbol"/>
                <a:cs typeface="Segoe UI Symbol"/>
              </a:rPr>
              <a:t>autonomes.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534911" y="2840735"/>
            <a:ext cx="4996180" cy="4913630"/>
            <a:chOff x="6534911" y="2840735"/>
            <a:chExt cx="4996180" cy="4913630"/>
          </a:xfrm>
        </p:grpSpPr>
        <p:sp>
          <p:nvSpPr>
            <p:cNvPr id="24" name="object 24"/>
            <p:cNvSpPr/>
            <p:nvPr/>
          </p:nvSpPr>
          <p:spPr>
            <a:xfrm>
              <a:off x="6534911" y="2840735"/>
              <a:ext cx="4996180" cy="4913630"/>
            </a:xfrm>
            <a:custGeom>
              <a:avLst/>
              <a:gdLst/>
              <a:ahLst/>
              <a:cxnLst/>
              <a:rect l="l" t="t" r="r" b="b"/>
              <a:pathLst>
                <a:path w="4996180" h="4913630">
                  <a:moveTo>
                    <a:pt x="4901184" y="0"/>
                  </a:moveTo>
                  <a:lnTo>
                    <a:pt x="94488" y="0"/>
                  </a:lnTo>
                  <a:lnTo>
                    <a:pt x="57703" y="7423"/>
                  </a:lnTo>
                  <a:lnTo>
                    <a:pt x="27670" y="27670"/>
                  </a:lnTo>
                  <a:lnTo>
                    <a:pt x="7423" y="57703"/>
                  </a:lnTo>
                  <a:lnTo>
                    <a:pt x="0" y="94487"/>
                  </a:lnTo>
                  <a:lnTo>
                    <a:pt x="0" y="4818938"/>
                  </a:lnTo>
                  <a:lnTo>
                    <a:pt x="7423" y="4855699"/>
                  </a:lnTo>
                  <a:lnTo>
                    <a:pt x="27670" y="4885716"/>
                  </a:lnTo>
                  <a:lnTo>
                    <a:pt x="57703" y="4905955"/>
                  </a:lnTo>
                  <a:lnTo>
                    <a:pt x="94488" y="4913376"/>
                  </a:lnTo>
                  <a:lnTo>
                    <a:pt x="4901184" y="4913376"/>
                  </a:lnTo>
                  <a:lnTo>
                    <a:pt x="4937968" y="4905955"/>
                  </a:lnTo>
                  <a:lnTo>
                    <a:pt x="4968001" y="4885716"/>
                  </a:lnTo>
                  <a:lnTo>
                    <a:pt x="4988248" y="4855699"/>
                  </a:lnTo>
                  <a:lnTo>
                    <a:pt x="4995672" y="4818938"/>
                  </a:lnTo>
                  <a:lnTo>
                    <a:pt x="4995672" y="94487"/>
                  </a:lnTo>
                  <a:lnTo>
                    <a:pt x="4988248" y="57703"/>
                  </a:lnTo>
                  <a:lnTo>
                    <a:pt x="4968001" y="27670"/>
                  </a:lnTo>
                  <a:lnTo>
                    <a:pt x="4937968" y="7423"/>
                  </a:lnTo>
                  <a:lnTo>
                    <a:pt x="4901184" y="0"/>
                  </a:lnTo>
                  <a:close/>
                </a:path>
              </a:pathLst>
            </a:custGeom>
            <a:solidFill>
              <a:srgbClr val="041838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65975" y="2919983"/>
              <a:ext cx="4733544" cy="47548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bject 36">
            <a:extLst>
              <a:ext uri="{FF2B5EF4-FFF2-40B4-BE49-F238E27FC236}">
                <a16:creationId xmlns:a16="http://schemas.microsoft.com/office/drawing/2014/main" id="{46940FFA-8DB6-507B-F5EF-DE7F59C6FC96}"/>
              </a:ext>
            </a:extLst>
          </p:cNvPr>
          <p:cNvSpPr/>
          <p:nvPr/>
        </p:nvSpPr>
        <p:spPr>
          <a:xfrm>
            <a:off x="3970" y="20251"/>
            <a:ext cx="14626430" cy="8189097"/>
          </a:xfrm>
          <a:custGeom>
            <a:avLst/>
            <a:gdLst/>
            <a:ahLst/>
            <a:cxnLst/>
            <a:rect l="l" t="t" r="r" b="b"/>
            <a:pathLst>
              <a:path w="2078990" h="920750">
                <a:moveTo>
                  <a:pt x="2078735" y="0"/>
                </a:moveTo>
                <a:lnTo>
                  <a:pt x="0" y="0"/>
                </a:lnTo>
                <a:lnTo>
                  <a:pt x="0" y="920496"/>
                </a:lnTo>
                <a:lnTo>
                  <a:pt x="2078735" y="920496"/>
                </a:lnTo>
                <a:lnTo>
                  <a:pt x="2078735" y="0"/>
                </a:lnTo>
                <a:close/>
              </a:path>
            </a:pathLst>
          </a:custGeom>
          <a:solidFill>
            <a:srgbClr val="162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12710159" y="7513319"/>
            <a:ext cx="1844039" cy="716280"/>
          </a:xfrm>
          <a:custGeom>
            <a:avLst/>
            <a:gdLst/>
            <a:ahLst/>
            <a:cxnLst/>
            <a:rect l="l" t="t" r="r" b="b"/>
            <a:pathLst>
              <a:path w="1844040" h="716279">
                <a:moveTo>
                  <a:pt x="1844040" y="0"/>
                </a:moveTo>
                <a:lnTo>
                  <a:pt x="0" y="0"/>
                </a:lnTo>
                <a:lnTo>
                  <a:pt x="0" y="716279"/>
                </a:lnTo>
                <a:lnTo>
                  <a:pt x="1844040" y="716279"/>
                </a:lnTo>
                <a:lnTo>
                  <a:pt x="1844040" y="0"/>
                </a:lnTo>
                <a:close/>
              </a:path>
            </a:pathLst>
          </a:custGeom>
          <a:solidFill>
            <a:srgbClr val="162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270" dirty="0"/>
              <a:t>Visualiser</a:t>
            </a:r>
            <a:r>
              <a:rPr spc="-55" dirty="0"/>
              <a:t> </a:t>
            </a:r>
            <a:r>
              <a:rPr spc="-190" dirty="0"/>
              <a:t>&amp;</a:t>
            </a:r>
            <a:r>
              <a:rPr spc="-120" dirty="0"/>
              <a:t> </a:t>
            </a:r>
            <a:r>
              <a:rPr spc="254" dirty="0"/>
              <a:t>Écouter</a:t>
            </a:r>
            <a:r>
              <a:rPr spc="-80" dirty="0"/>
              <a:t> </a:t>
            </a:r>
            <a:r>
              <a:rPr spc="475" dirty="0"/>
              <a:t>:</a:t>
            </a:r>
            <a:r>
              <a:rPr spc="-140" dirty="0"/>
              <a:t> </a:t>
            </a:r>
            <a:r>
              <a:rPr spc="235" dirty="0"/>
              <a:t>YouTube</a:t>
            </a:r>
            <a:r>
              <a:rPr spc="-100" dirty="0"/>
              <a:t> </a:t>
            </a:r>
            <a:r>
              <a:rPr spc="165" dirty="0"/>
              <a:t>et</a:t>
            </a:r>
            <a:r>
              <a:rPr spc="-120" dirty="0"/>
              <a:t> </a:t>
            </a:r>
            <a:r>
              <a:rPr spc="200" dirty="0"/>
              <a:t>Conférences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33855" y="2118360"/>
            <a:ext cx="5953125" cy="1774189"/>
            <a:chOff x="1133855" y="2118360"/>
            <a:chExt cx="5953125" cy="1774189"/>
          </a:xfrm>
        </p:grpSpPr>
        <p:sp>
          <p:nvSpPr>
            <p:cNvPr id="5" name="object 5"/>
            <p:cNvSpPr/>
            <p:nvPr/>
          </p:nvSpPr>
          <p:spPr>
            <a:xfrm>
              <a:off x="1146047" y="2130552"/>
              <a:ext cx="5928360" cy="1750060"/>
            </a:xfrm>
            <a:custGeom>
              <a:avLst/>
              <a:gdLst/>
              <a:ahLst/>
              <a:cxnLst/>
              <a:rect l="l" t="t" r="r" b="b"/>
              <a:pathLst>
                <a:path w="5928359" h="1750060">
                  <a:moveTo>
                    <a:pt x="5845809" y="0"/>
                  </a:moveTo>
                  <a:lnTo>
                    <a:pt x="82550" y="0"/>
                  </a:lnTo>
                  <a:lnTo>
                    <a:pt x="50417" y="6486"/>
                  </a:lnTo>
                  <a:lnTo>
                    <a:pt x="24177" y="24177"/>
                  </a:lnTo>
                  <a:lnTo>
                    <a:pt x="6486" y="50417"/>
                  </a:lnTo>
                  <a:lnTo>
                    <a:pt x="0" y="82550"/>
                  </a:lnTo>
                  <a:lnTo>
                    <a:pt x="0" y="1667002"/>
                  </a:lnTo>
                  <a:lnTo>
                    <a:pt x="6486" y="1699134"/>
                  </a:lnTo>
                  <a:lnTo>
                    <a:pt x="24177" y="1725374"/>
                  </a:lnTo>
                  <a:lnTo>
                    <a:pt x="50417" y="1743065"/>
                  </a:lnTo>
                  <a:lnTo>
                    <a:pt x="82550" y="1749552"/>
                  </a:lnTo>
                  <a:lnTo>
                    <a:pt x="5845809" y="1749552"/>
                  </a:lnTo>
                  <a:lnTo>
                    <a:pt x="5877942" y="1743065"/>
                  </a:lnTo>
                  <a:lnTo>
                    <a:pt x="5904182" y="1725374"/>
                  </a:lnTo>
                  <a:lnTo>
                    <a:pt x="5921873" y="1699134"/>
                  </a:lnTo>
                  <a:lnTo>
                    <a:pt x="5928359" y="1667002"/>
                  </a:lnTo>
                  <a:lnTo>
                    <a:pt x="5928359" y="82550"/>
                  </a:lnTo>
                  <a:lnTo>
                    <a:pt x="5921873" y="50417"/>
                  </a:lnTo>
                  <a:lnTo>
                    <a:pt x="5904182" y="24177"/>
                  </a:lnTo>
                  <a:lnTo>
                    <a:pt x="5877942" y="6486"/>
                  </a:lnTo>
                  <a:lnTo>
                    <a:pt x="5845809" y="0"/>
                  </a:lnTo>
                  <a:close/>
                </a:path>
              </a:pathLst>
            </a:custGeom>
            <a:solidFill>
              <a:srgbClr val="09151A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6047" y="2130552"/>
              <a:ext cx="5928360" cy="1750060"/>
            </a:xfrm>
            <a:custGeom>
              <a:avLst/>
              <a:gdLst/>
              <a:ahLst/>
              <a:cxnLst/>
              <a:rect l="l" t="t" r="r" b="b"/>
              <a:pathLst>
                <a:path w="5928359" h="1750060">
                  <a:moveTo>
                    <a:pt x="0" y="82550"/>
                  </a:moveTo>
                  <a:lnTo>
                    <a:pt x="6486" y="50417"/>
                  </a:lnTo>
                  <a:lnTo>
                    <a:pt x="24177" y="24177"/>
                  </a:lnTo>
                  <a:lnTo>
                    <a:pt x="50417" y="6486"/>
                  </a:lnTo>
                  <a:lnTo>
                    <a:pt x="82550" y="0"/>
                  </a:lnTo>
                  <a:lnTo>
                    <a:pt x="5845809" y="0"/>
                  </a:lnTo>
                  <a:lnTo>
                    <a:pt x="5877942" y="6486"/>
                  </a:lnTo>
                  <a:lnTo>
                    <a:pt x="5904182" y="24177"/>
                  </a:lnTo>
                  <a:lnTo>
                    <a:pt x="5921873" y="50417"/>
                  </a:lnTo>
                  <a:lnTo>
                    <a:pt x="5928359" y="82550"/>
                  </a:lnTo>
                  <a:lnTo>
                    <a:pt x="5928359" y="1667002"/>
                  </a:lnTo>
                  <a:lnTo>
                    <a:pt x="5921873" y="1699134"/>
                  </a:lnTo>
                  <a:lnTo>
                    <a:pt x="5904182" y="1725374"/>
                  </a:lnTo>
                  <a:lnTo>
                    <a:pt x="5877942" y="1743065"/>
                  </a:lnTo>
                  <a:lnTo>
                    <a:pt x="5845809" y="1749552"/>
                  </a:lnTo>
                  <a:lnTo>
                    <a:pt x="82550" y="1749552"/>
                  </a:lnTo>
                  <a:lnTo>
                    <a:pt x="50417" y="1743065"/>
                  </a:lnTo>
                  <a:lnTo>
                    <a:pt x="24177" y="1725374"/>
                  </a:lnTo>
                  <a:lnTo>
                    <a:pt x="6486" y="1699134"/>
                  </a:lnTo>
                  <a:lnTo>
                    <a:pt x="0" y="1667002"/>
                  </a:lnTo>
                  <a:lnTo>
                    <a:pt x="0" y="82550"/>
                  </a:lnTo>
                  <a:close/>
                </a:path>
              </a:pathLst>
            </a:custGeom>
            <a:ln w="24384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70431" y="2151888"/>
              <a:ext cx="786765" cy="1706880"/>
            </a:xfrm>
            <a:custGeom>
              <a:avLst/>
              <a:gdLst/>
              <a:ahLst/>
              <a:cxnLst/>
              <a:rect l="l" t="t" r="r" b="b"/>
              <a:pathLst>
                <a:path w="786764" h="1706879">
                  <a:moveTo>
                    <a:pt x="731266" y="0"/>
                  </a:moveTo>
                  <a:lnTo>
                    <a:pt x="55143" y="0"/>
                  </a:lnTo>
                  <a:lnTo>
                    <a:pt x="33679" y="4325"/>
                  </a:lnTo>
                  <a:lnTo>
                    <a:pt x="16151" y="16128"/>
                  </a:lnTo>
                  <a:lnTo>
                    <a:pt x="4333" y="33647"/>
                  </a:lnTo>
                  <a:lnTo>
                    <a:pt x="0" y="55117"/>
                  </a:lnTo>
                  <a:lnTo>
                    <a:pt x="0" y="1651762"/>
                  </a:lnTo>
                  <a:lnTo>
                    <a:pt x="4333" y="1673232"/>
                  </a:lnTo>
                  <a:lnTo>
                    <a:pt x="16151" y="1690751"/>
                  </a:lnTo>
                  <a:lnTo>
                    <a:pt x="33679" y="1702554"/>
                  </a:lnTo>
                  <a:lnTo>
                    <a:pt x="55143" y="1706879"/>
                  </a:lnTo>
                  <a:lnTo>
                    <a:pt x="731266" y="1706879"/>
                  </a:lnTo>
                  <a:lnTo>
                    <a:pt x="752736" y="1702554"/>
                  </a:lnTo>
                  <a:lnTo>
                    <a:pt x="770255" y="1690751"/>
                  </a:lnTo>
                  <a:lnTo>
                    <a:pt x="782058" y="1673232"/>
                  </a:lnTo>
                  <a:lnTo>
                    <a:pt x="786384" y="1651762"/>
                  </a:lnTo>
                  <a:lnTo>
                    <a:pt x="786384" y="55117"/>
                  </a:lnTo>
                  <a:lnTo>
                    <a:pt x="782058" y="33647"/>
                  </a:lnTo>
                  <a:lnTo>
                    <a:pt x="770255" y="16128"/>
                  </a:lnTo>
                  <a:lnTo>
                    <a:pt x="752736" y="4325"/>
                  </a:lnTo>
                  <a:lnTo>
                    <a:pt x="731266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98777" y="2735656"/>
            <a:ext cx="15430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80" dirty="0">
                <a:solidFill>
                  <a:srgbClr val="E1E6E9"/>
                </a:solidFill>
                <a:latin typeface="Segoe UI Symbol"/>
                <a:cs typeface="Segoe UI Symbol"/>
              </a:rPr>
              <a:t>1</a:t>
            </a:r>
            <a:endParaRPr sz="2300">
              <a:latin typeface="Segoe UI Symbol"/>
              <a:cs typeface="Segoe UI 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0198" y="2325369"/>
            <a:ext cx="4718050" cy="1308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10" dirty="0">
                <a:solidFill>
                  <a:srgbClr val="E1E6E9"/>
                </a:solidFill>
                <a:latin typeface="Segoe UI Symbol"/>
                <a:cs typeface="Segoe UI Symbol"/>
              </a:rPr>
              <a:t>Waymo</a:t>
            </a:r>
            <a:endParaRPr sz="1900">
              <a:latin typeface="Segoe UI Symbol"/>
              <a:cs typeface="Segoe UI Symbol"/>
            </a:endParaRPr>
          </a:p>
          <a:p>
            <a:pPr marL="12700" marR="5080">
              <a:lnSpc>
                <a:spcPct val="122100"/>
              </a:lnSpc>
              <a:spcBef>
                <a:spcPts val="1230"/>
              </a:spcBef>
            </a:pPr>
            <a:r>
              <a:rPr sz="1500" spc="105" dirty="0">
                <a:solidFill>
                  <a:srgbClr val="E1E6E9"/>
                </a:solidFill>
                <a:latin typeface="Segoe UI Symbol"/>
                <a:cs typeface="Segoe UI Symbol"/>
              </a:rPr>
              <a:t>Démonstrations</a:t>
            </a:r>
            <a:r>
              <a:rPr sz="1500" spc="-13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85" dirty="0">
                <a:solidFill>
                  <a:srgbClr val="E1E6E9"/>
                </a:solidFill>
                <a:latin typeface="Segoe UI Symbol"/>
                <a:cs typeface="Segoe UI Symbol"/>
              </a:rPr>
              <a:t>en</a:t>
            </a:r>
            <a:r>
              <a:rPr sz="1500" spc="-5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100" dirty="0">
                <a:solidFill>
                  <a:srgbClr val="E1E6E9"/>
                </a:solidFill>
                <a:latin typeface="Segoe UI Symbol"/>
                <a:cs typeface="Segoe UI Symbol"/>
              </a:rPr>
              <a:t>conditions</a:t>
            </a:r>
            <a:r>
              <a:rPr sz="1500" spc="-5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E1E6E9"/>
                </a:solidFill>
                <a:latin typeface="Segoe UI Symbol"/>
                <a:cs typeface="Segoe UI Symbol"/>
              </a:rPr>
              <a:t>réelles</a:t>
            </a:r>
            <a:r>
              <a:rPr sz="1500" spc="-8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60" dirty="0">
                <a:solidFill>
                  <a:srgbClr val="E1E6E9"/>
                </a:solidFill>
                <a:latin typeface="Segoe UI Symbol"/>
                <a:cs typeface="Segoe UI Symbol"/>
              </a:rPr>
              <a:t>et</a:t>
            </a:r>
            <a:r>
              <a:rPr sz="1500" spc="-4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85" dirty="0">
                <a:solidFill>
                  <a:srgbClr val="E1E6E9"/>
                </a:solidFill>
                <a:latin typeface="Segoe UI Symbol"/>
                <a:cs typeface="Segoe UI Symbol"/>
              </a:rPr>
              <a:t>annonces </a:t>
            </a:r>
            <a:r>
              <a:rPr sz="1500" spc="95" dirty="0">
                <a:solidFill>
                  <a:srgbClr val="E1E6E9"/>
                </a:solidFill>
                <a:latin typeface="Segoe UI Symbol"/>
                <a:cs typeface="Segoe UI Symbol"/>
              </a:rPr>
              <a:t>officielles</a:t>
            </a:r>
            <a:r>
              <a:rPr sz="1500" spc="-6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75" dirty="0">
                <a:solidFill>
                  <a:srgbClr val="E1E6E9"/>
                </a:solidFill>
                <a:latin typeface="Segoe UI Symbol"/>
                <a:cs typeface="Segoe UI Symbol"/>
              </a:rPr>
              <a:t>du</a:t>
            </a:r>
            <a:r>
              <a:rPr sz="1500" spc="-5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75" dirty="0">
                <a:solidFill>
                  <a:srgbClr val="E1E6E9"/>
                </a:solidFill>
                <a:latin typeface="Segoe UI Symbol"/>
                <a:cs typeface="Segoe UI Symbol"/>
              </a:rPr>
              <a:t>leader</a:t>
            </a:r>
            <a:r>
              <a:rPr sz="1500" spc="-6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110" dirty="0">
                <a:solidFill>
                  <a:srgbClr val="E1E6E9"/>
                </a:solidFill>
                <a:latin typeface="Segoe UI Symbol"/>
                <a:cs typeface="Segoe UI Symbol"/>
              </a:rPr>
              <a:t>mondial</a:t>
            </a:r>
            <a:r>
              <a:rPr sz="1500" spc="-8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75" dirty="0">
                <a:solidFill>
                  <a:srgbClr val="E1E6E9"/>
                </a:solidFill>
                <a:latin typeface="Segoe UI Symbol"/>
                <a:cs typeface="Segoe UI Symbol"/>
              </a:rPr>
              <a:t>du</a:t>
            </a:r>
            <a:r>
              <a:rPr sz="1500" spc="-6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75" dirty="0">
                <a:solidFill>
                  <a:srgbClr val="E1E6E9"/>
                </a:solidFill>
                <a:latin typeface="Segoe UI Symbol"/>
                <a:cs typeface="Segoe UI Symbol"/>
              </a:rPr>
              <a:t>secteur. </a:t>
            </a:r>
            <a:r>
              <a:rPr sz="1500" u="sng" spc="7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 Symbol"/>
                <a:cs typeface="Segoe UI Symbol"/>
                <a:hlinkClick r:id="rId2"/>
              </a:rPr>
              <a:t>youtube.com/c/Waymo</a:t>
            </a:r>
            <a:endParaRPr sz="1500">
              <a:latin typeface="Segoe UI Symbol"/>
              <a:cs typeface="Segoe UI Symbo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33855" y="4026408"/>
            <a:ext cx="5953125" cy="1774189"/>
            <a:chOff x="1133855" y="4026408"/>
            <a:chExt cx="5953125" cy="1774189"/>
          </a:xfrm>
        </p:grpSpPr>
        <p:sp>
          <p:nvSpPr>
            <p:cNvPr id="11" name="object 11"/>
            <p:cNvSpPr/>
            <p:nvPr/>
          </p:nvSpPr>
          <p:spPr>
            <a:xfrm>
              <a:off x="1146047" y="4038600"/>
              <a:ext cx="5928360" cy="1750060"/>
            </a:xfrm>
            <a:custGeom>
              <a:avLst/>
              <a:gdLst/>
              <a:ahLst/>
              <a:cxnLst/>
              <a:rect l="l" t="t" r="r" b="b"/>
              <a:pathLst>
                <a:path w="5928359" h="1750060">
                  <a:moveTo>
                    <a:pt x="5845809" y="0"/>
                  </a:moveTo>
                  <a:lnTo>
                    <a:pt x="82550" y="0"/>
                  </a:lnTo>
                  <a:lnTo>
                    <a:pt x="50417" y="6486"/>
                  </a:lnTo>
                  <a:lnTo>
                    <a:pt x="24177" y="24177"/>
                  </a:lnTo>
                  <a:lnTo>
                    <a:pt x="6486" y="50417"/>
                  </a:lnTo>
                  <a:lnTo>
                    <a:pt x="0" y="82550"/>
                  </a:lnTo>
                  <a:lnTo>
                    <a:pt x="0" y="1667002"/>
                  </a:lnTo>
                  <a:lnTo>
                    <a:pt x="6486" y="1699134"/>
                  </a:lnTo>
                  <a:lnTo>
                    <a:pt x="24177" y="1725374"/>
                  </a:lnTo>
                  <a:lnTo>
                    <a:pt x="50417" y="1743065"/>
                  </a:lnTo>
                  <a:lnTo>
                    <a:pt x="82550" y="1749552"/>
                  </a:lnTo>
                  <a:lnTo>
                    <a:pt x="5845809" y="1749552"/>
                  </a:lnTo>
                  <a:lnTo>
                    <a:pt x="5877942" y="1743065"/>
                  </a:lnTo>
                  <a:lnTo>
                    <a:pt x="5904182" y="1725374"/>
                  </a:lnTo>
                  <a:lnTo>
                    <a:pt x="5921873" y="1699134"/>
                  </a:lnTo>
                  <a:lnTo>
                    <a:pt x="5928359" y="1667002"/>
                  </a:lnTo>
                  <a:lnTo>
                    <a:pt x="5928359" y="82550"/>
                  </a:lnTo>
                  <a:lnTo>
                    <a:pt x="5921873" y="50417"/>
                  </a:lnTo>
                  <a:lnTo>
                    <a:pt x="5904182" y="24177"/>
                  </a:lnTo>
                  <a:lnTo>
                    <a:pt x="5877942" y="6486"/>
                  </a:lnTo>
                  <a:lnTo>
                    <a:pt x="5845809" y="0"/>
                  </a:lnTo>
                  <a:close/>
                </a:path>
              </a:pathLst>
            </a:custGeom>
            <a:solidFill>
              <a:srgbClr val="09151A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46047" y="4038600"/>
              <a:ext cx="5928360" cy="1750060"/>
            </a:xfrm>
            <a:custGeom>
              <a:avLst/>
              <a:gdLst/>
              <a:ahLst/>
              <a:cxnLst/>
              <a:rect l="l" t="t" r="r" b="b"/>
              <a:pathLst>
                <a:path w="5928359" h="1750060">
                  <a:moveTo>
                    <a:pt x="0" y="82550"/>
                  </a:moveTo>
                  <a:lnTo>
                    <a:pt x="6486" y="50417"/>
                  </a:lnTo>
                  <a:lnTo>
                    <a:pt x="24177" y="24177"/>
                  </a:lnTo>
                  <a:lnTo>
                    <a:pt x="50417" y="6486"/>
                  </a:lnTo>
                  <a:lnTo>
                    <a:pt x="82550" y="0"/>
                  </a:lnTo>
                  <a:lnTo>
                    <a:pt x="5845809" y="0"/>
                  </a:lnTo>
                  <a:lnTo>
                    <a:pt x="5877942" y="6486"/>
                  </a:lnTo>
                  <a:lnTo>
                    <a:pt x="5904182" y="24177"/>
                  </a:lnTo>
                  <a:lnTo>
                    <a:pt x="5921873" y="50417"/>
                  </a:lnTo>
                  <a:lnTo>
                    <a:pt x="5928359" y="82550"/>
                  </a:lnTo>
                  <a:lnTo>
                    <a:pt x="5928359" y="1667002"/>
                  </a:lnTo>
                  <a:lnTo>
                    <a:pt x="5921873" y="1699134"/>
                  </a:lnTo>
                  <a:lnTo>
                    <a:pt x="5904182" y="1725374"/>
                  </a:lnTo>
                  <a:lnTo>
                    <a:pt x="5877942" y="1743065"/>
                  </a:lnTo>
                  <a:lnTo>
                    <a:pt x="5845809" y="1749552"/>
                  </a:lnTo>
                  <a:lnTo>
                    <a:pt x="82550" y="1749552"/>
                  </a:lnTo>
                  <a:lnTo>
                    <a:pt x="50417" y="1743065"/>
                  </a:lnTo>
                  <a:lnTo>
                    <a:pt x="24177" y="1725374"/>
                  </a:lnTo>
                  <a:lnTo>
                    <a:pt x="6486" y="1699134"/>
                  </a:lnTo>
                  <a:lnTo>
                    <a:pt x="0" y="1667002"/>
                  </a:lnTo>
                  <a:lnTo>
                    <a:pt x="0" y="82550"/>
                  </a:lnTo>
                  <a:close/>
                </a:path>
              </a:pathLst>
            </a:custGeom>
            <a:ln w="24384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70431" y="4059936"/>
              <a:ext cx="786765" cy="1706880"/>
            </a:xfrm>
            <a:custGeom>
              <a:avLst/>
              <a:gdLst/>
              <a:ahLst/>
              <a:cxnLst/>
              <a:rect l="l" t="t" r="r" b="b"/>
              <a:pathLst>
                <a:path w="786764" h="1706879">
                  <a:moveTo>
                    <a:pt x="731266" y="0"/>
                  </a:moveTo>
                  <a:lnTo>
                    <a:pt x="55143" y="0"/>
                  </a:lnTo>
                  <a:lnTo>
                    <a:pt x="33679" y="4325"/>
                  </a:lnTo>
                  <a:lnTo>
                    <a:pt x="16151" y="16128"/>
                  </a:lnTo>
                  <a:lnTo>
                    <a:pt x="4333" y="33647"/>
                  </a:lnTo>
                  <a:lnTo>
                    <a:pt x="0" y="55117"/>
                  </a:lnTo>
                  <a:lnTo>
                    <a:pt x="0" y="1651762"/>
                  </a:lnTo>
                  <a:lnTo>
                    <a:pt x="4333" y="1673232"/>
                  </a:lnTo>
                  <a:lnTo>
                    <a:pt x="16151" y="1690751"/>
                  </a:lnTo>
                  <a:lnTo>
                    <a:pt x="33679" y="1702554"/>
                  </a:lnTo>
                  <a:lnTo>
                    <a:pt x="55143" y="1706880"/>
                  </a:lnTo>
                  <a:lnTo>
                    <a:pt x="731266" y="1706880"/>
                  </a:lnTo>
                  <a:lnTo>
                    <a:pt x="752736" y="1702554"/>
                  </a:lnTo>
                  <a:lnTo>
                    <a:pt x="770255" y="1690751"/>
                  </a:lnTo>
                  <a:lnTo>
                    <a:pt x="782058" y="1673232"/>
                  </a:lnTo>
                  <a:lnTo>
                    <a:pt x="786384" y="1651762"/>
                  </a:lnTo>
                  <a:lnTo>
                    <a:pt x="786384" y="55117"/>
                  </a:lnTo>
                  <a:lnTo>
                    <a:pt x="782058" y="33647"/>
                  </a:lnTo>
                  <a:lnTo>
                    <a:pt x="770255" y="16128"/>
                  </a:lnTo>
                  <a:lnTo>
                    <a:pt x="752736" y="4325"/>
                  </a:lnTo>
                  <a:lnTo>
                    <a:pt x="731266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398777" y="4644644"/>
            <a:ext cx="20066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85" dirty="0">
                <a:solidFill>
                  <a:srgbClr val="E1E6E9"/>
                </a:solidFill>
                <a:latin typeface="Segoe UI Symbol"/>
                <a:cs typeface="Segoe UI Symbol"/>
              </a:rPr>
              <a:t>2</a:t>
            </a:r>
            <a:endParaRPr sz="2300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00198" y="4233798"/>
            <a:ext cx="4343400" cy="1308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40" dirty="0">
                <a:solidFill>
                  <a:srgbClr val="E1E6E9"/>
                </a:solidFill>
                <a:latin typeface="Segoe UI Symbol"/>
                <a:cs typeface="Segoe UI Symbol"/>
              </a:rPr>
              <a:t>Tesla</a:t>
            </a:r>
            <a:endParaRPr sz="1900">
              <a:latin typeface="Segoe UI Symbol"/>
              <a:cs typeface="Segoe UI Symbol"/>
            </a:endParaRPr>
          </a:p>
          <a:p>
            <a:pPr marL="12700" marR="5080">
              <a:lnSpc>
                <a:spcPct val="122000"/>
              </a:lnSpc>
              <a:spcBef>
                <a:spcPts val="1235"/>
              </a:spcBef>
            </a:pPr>
            <a:r>
              <a:rPr sz="1500" spc="100" dirty="0">
                <a:solidFill>
                  <a:srgbClr val="E1E6E9"/>
                </a:solidFill>
                <a:latin typeface="Segoe UI Symbol"/>
                <a:cs typeface="Segoe UI Symbol"/>
              </a:rPr>
              <a:t>Présentations</a:t>
            </a:r>
            <a:r>
              <a:rPr sz="1500" spc="-12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65" dirty="0">
                <a:solidFill>
                  <a:srgbClr val="E1E6E9"/>
                </a:solidFill>
                <a:latin typeface="Segoe UI Symbol"/>
                <a:cs typeface="Segoe UI Symbol"/>
              </a:rPr>
              <a:t>des</a:t>
            </a:r>
            <a:r>
              <a:rPr sz="1500" spc="-2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80" dirty="0">
                <a:solidFill>
                  <a:srgbClr val="E1E6E9"/>
                </a:solidFill>
                <a:latin typeface="Segoe UI Symbol"/>
                <a:cs typeface="Segoe UI Symbol"/>
              </a:rPr>
              <a:t>avancées</a:t>
            </a:r>
            <a:r>
              <a:rPr sz="150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E1E6E9"/>
                </a:solidFill>
                <a:latin typeface="Segoe UI Symbol"/>
                <a:cs typeface="Segoe UI Symbol"/>
              </a:rPr>
              <a:t>d'Autopilot</a:t>
            </a:r>
            <a:r>
              <a:rPr sz="1500" spc="-12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60" dirty="0">
                <a:solidFill>
                  <a:srgbClr val="E1E6E9"/>
                </a:solidFill>
                <a:latin typeface="Segoe UI Symbol"/>
                <a:cs typeface="Segoe UI Symbol"/>
              </a:rPr>
              <a:t>et</a:t>
            </a:r>
            <a:r>
              <a:rPr sz="1500" spc="-4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120" dirty="0">
                <a:solidFill>
                  <a:srgbClr val="E1E6E9"/>
                </a:solidFill>
                <a:latin typeface="Segoe UI Symbol"/>
                <a:cs typeface="Segoe UI Symbol"/>
              </a:rPr>
              <a:t>Full </a:t>
            </a:r>
            <a:r>
              <a:rPr sz="1500" spc="140" dirty="0">
                <a:solidFill>
                  <a:srgbClr val="E1E6E9"/>
                </a:solidFill>
                <a:latin typeface="Segoe UI Symbol"/>
                <a:cs typeface="Segoe UI Symbol"/>
              </a:rPr>
              <a:t>Self-</a:t>
            </a:r>
            <a:r>
              <a:rPr sz="1500" spc="120" dirty="0">
                <a:solidFill>
                  <a:srgbClr val="E1E6E9"/>
                </a:solidFill>
                <a:latin typeface="Segoe UI Symbol"/>
                <a:cs typeface="Segoe UI Symbol"/>
              </a:rPr>
              <a:t>Driving</a:t>
            </a:r>
            <a:r>
              <a:rPr sz="1500" spc="-14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150" dirty="0">
                <a:solidFill>
                  <a:srgbClr val="E1E6E9"/>
                </a:solidFill>
                <a:latin typeface="Segoe UI Symbol"/>
                <a:cs typeface="Segoe UI Symbol"/>
              </a:rPr>
              <a:t>(FSD)</a:t>
            </a:r>
            <a:r>
              <a:rPr sz="1500" spc="-6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85" dirty="0">
                <a:solidFill>
                  <a:srgbClr val="E1E6E9"/>
                </a:solidFill>
                <a:latin typeface="Segoe UI Symbol"/>
                <a:cs typeface="Segoe UI Symbol"/>
              </a:rPr>
              <a:t>en</a:t>
            </a:r>
            <a:r>
              <a:rPr sz="1500" spc="-5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65" dirty="0">
                <a:solidFill>
                  <a:srgbClr val="E1E6E9"/>
                </a:solidFill>
                <a:latin typeface="Segoe UI Symbol"/>
                <a:cs typeface="Segoe UI Symbol"/>
              </a:rPr>
              <a:t>vidéo. </a:t>
            </a:r>
            <a:r>
              <a:rPr sz="1500" u="sng" spc="8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 Symbol"/>
                <a:cs typeface="Segoe UI Symbol"/>
                <a:hlinkClick r:id="rId3"/>
              </a:rPr>
              <a:t>youtube.com/user/TeslaMotors</a:t>
            </a:r>
            <a:endParaRPr sz="1500">
              <a:latin typeface="Segoe UI Symbol"/>
              <a:cs typeface="Segoe UI Symbo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33855" y="5934455"/>
            <a:ext cx="5953125" cy="1490980"/>
            <a:chOff x="1133855" y="5934455"/>
            <a:chExt cx="5953125" cy="1490980"/>
          </a:xfrm>
        </p:grpSpPr>
        <p:sp>
          <p:nvSpPr>
            <p:cNvPr id="17" name="object 17"/>
            <p:cNvSpPr/>
            <p:nvPr/>
          </p:nvSpPr>
          <p:spPr>
            <a:xfrm>
              <a:off x="1146047" y="5946647"/>
              <a:ext cx="5928360" cy="1466215"/>
            </a:xfrm>
            <a:custGeom>
              <a:avLst/>
              <a:gdLst/>
              <a:ahLst/>
              <a:cxnLst/>
              <a:rect l="l" t="t" r="r" b="b"/>
              <a:pathLst>
                <a:path w="5928359" h="1466215">
                  <a:moveTo>
                    <a:pt x="5845936" y="0"/>
                  </a:moveTo>
                  <a:lnTo>
                    <a:pt x="82486" y="0"/>
                  </a:lnTo>
                  <a:lnTo>
                    <a:pt x="50379" y="6484"/>
                  </a:lnTo>
                  <a:lnTo>
                    <a:pt x="24160" y="24161"/>
                  </a:lnTo>
                  <a:lnTo>
                    <a:pt x="6482" y="50363"/>
                  </a:lnTo>
                  <a:lnTo>
                    <a:pt x="0" y="82422"/>
                  </a:lnTo>
                  <a:lnTo>
                    <a:pt x="0" y="1383601"/>
                  </a:lnTo>
                  <a:lnTo>
                    <a:pt x="6482" y="1415708"/>
                  </a:lnTo>
                  <a:lnTo>
                    <a:pt x="24160" y="1441927"/>
                  </a:lnTo>
                  <a:lnTo>
                    <a:pt x="50379" y="1459605"/>
                  </a:lnTo>
                  <a:lnTo>
                    <a:pt x="82486" y="1466088"/>
                  </a:lnTo>
                  <a:lnTo>
                    <a:pt x="5845936" y="1466088"/>
                  </a:lnTo>
                  <a:lnTo>
                    <a:pt x="5877996" y="1459605"/>
                  </a:lnTo>
                  <a:lnTo>
                    <a:pt x="5904198" y="1441927"/>
                  </a:lnTo>
                  <a:lnTo>
                    <a:pt x="5921875" y="1415708"/>
                  </a:lnTo>
                  <a:lnTo>
                    <a:pt x="5928359" y="1383601"/>
                  </a:lnTo>
                  <a:lnTo>
                    <a:pt x="5928359" y="82422"/>
                  </a:lnTo>
                  <a:lnTo>
                    <a:pt x="5921875" y="50363"/>
                  </a:lnTo>
                  <a:lnTo>
                    <a:pt x="5904198" y="24161"/>
                  </a:lnTo>
                  <a:lnTo>
                    <a:pt x="5877996" y="6484"/>
                  </a:lnTo>
                  <a:lnTo>
                    <a:pt x="5845936" y="0"/>
                  </a:lnTo>
                  <a:close/>
                </a:path>
              </a:pathLst>
            </a:custGeom>
            <a:solidFill>
              <a:srgbClr val="09151A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46047" y="5946647"/>
              <a:ext cx="5928360" cy="1466215"/>
            </a:xfrm>
            <a:custGeom>
              <a:avLst/>
              <a:gdLst/>
              <a:ahLst/>
              <a:cxnLst/>
              <a:rect l="l" t="t" r="r" b="b"/>
              <a:pathLst>
                <a:path w="5928359" h="1466215">
                  <a:moveTo>
                    <a:pt x="0" y="82422"/>
                  </a:moveTo>
                  <a:lnTo>
                    <a:pt x="6482" y="50363"/>
                  </a:lnTo>
                  <a:lnTo>
                    <a:pt x="24160" y="24161"/>
                  </a:lnTo>
                  <a:lnTo>
                    <a:pt x="50379" y="6484"/>
                  </a:lnTo>
                  <a:lnTo>
                    <a:pt x="82486" y="0"/>
                  </a:lnTo>
                  <a:lnTo>
                    <a:pt x="5845936" y="0"/>
                  </a:lnTo>
                  <a:lnTo>
                    <a:pt x="5877996" y="6484"/>
                  </a:lnTo>
                  <a:lnTo>
                    <a:pt x="5904198" y="24161"/>
                  </a:lnTo>
                  <a:lnTo>
                    <a:pt x="5921875" y="50363"/>
                  </a:lnTo>
                  <a:lnTo>
                    <a:pt x="5928359" y="82422"/>
                  </a:lnTo>
                  <a:lnTo>
                    <a:pt x="5928359" y="1383601"/>
                  </a:lnTo>
                  <a:lnTo>
                    <a:pt x="5921875" y="1415708"/>
                  </a:lnTo>
                  <a:lnTo>
                    <a:pt x="5904198" y="1441927"/>
                  </a:lnTo>
                  <a:lnTo>
                    <a:pt x="5877996" y="1459605"/>
                  </a:lnTo>
                  <a:lnTo>
                    <a:pt x="5845936" y="1466088"/>
                  </a:lnTo>
                  <a:lnTo>
                    <a:pt x="82486" y="1466088"/>
                  </a:lnTo>
                  <a:lnTo>
                    <a:pt x="50379" y="1459605"/>
                  </a:lnTo>
                  <a:lnTo>
                    <a:pt x="24160" y="1441927"/>
                  </a:lnTo>
                  <a:lnTo>
                    <a:pt x="6482" y="1415708"/>
                  </a:lnTo>
                  <a:lnTo>
                    <a:pt x="0" y="1383601"/>
                  </a:lnTo>
                  <a:lnTo>
                    <a:pt x="0" y="82422"/>
                  </a:lnTo>
                  <a:close/>
                </a:path>
              </a:pathLst>
            </a:custGeom>
            <a:ln w="24383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70431" y="5967983"/>
              <a:ext cx="786765" cy="1423670"/>
            </a:xfrm>
            <a:custGeom>
              <a:avLst/>
              <a:gdLst/>
              <a:ahLst/>
              <a:cxnLst/>
              <a:rect l="l" t="t" r="r" b="b"/>
              <a:pathLst>
                <a:path w="786764" h="1423670">
                  <a:moveTo>
                    <a:pt x="731266" y="0"/>
                  </a:moveTo>
                  <a:lnTo>
                    <a:pt x="55143" y="0"/>
                  </a:lnTo>
                  <a:lnTo>
                    <a:pt x="33679" y="4325"/>
                  </a:lnTo>
                  <a:lnTo>
                    <a:pt x="16151" y="16129"/>
                  </a:lnTo>
                  <a:lnTo>
                    <a:pt x="4333" y="33647"/>
                  </a:lnTo>
                  <a:lnTo>
                    <a:pt x="0" y="55118"/>
                  </a:lnTo>
                  <a:lnTo>
                    <a:pt x="0" y="1368259"/>
                  </a:lnTo>
                  <a:lnTo>
                    <a:pt x="4333" y="1389731"/>
                  </a:lnTo>
                  <a:lnTo>
                    <a:pt x="16151" y="1407263"/>
                  </a:lnTo>
                  <a:lnTo>
                    <a:pt x="33679" y="1419082"/>
                  </a:lnTo>
                  <a:lnTo>
                    <a:pt x="55143" y="1423416"/>
                  </a:lnTo>
                  <a:lnTo>
                    <a:pt x="731266" y="1423416"/>
                  </a:lnTo>
                  <a:lnTo>
                    <a:pt x="752736" y="1419082"/>
                  </a:lnTo>
                  <a:lnTo>
                    <a:pt x="770255" y="1407263"/>
                  </a:lnTo>
                  <a:lnTo>
                    <a:pt x="782058" y="1389731"/>
                  </a:lnTo>
                  <a:lnTo>
                    <a:pt x="786384" y="1368259"/>
                  </a:lnTo>
                  <a:lnTo>
                    <a:pt x="786384" y="55118"/>
                  </a:lnTo>
                  <a:lnTo>
                    <a:pt x="782058" y="33647"/>
                  </a:lnTo>
                  <a:lnTo>
                    <a:pt x="770255" y="16129"/>
                  </a:lnTo>
                  <a:lnTo>
                    <a:pt x="752736" y="4325"/>
                  </a:lnTo>
                  <a:lnTo>
                    <a:pt x="731266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398777" y="6411595"/>
            <a:ext cx="18986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50" dirty="0">
                <a:solidFill>
                  <a:srgbClr val="E1E6E9"/>
                </a:solidFill>
                <a:latin typeface="Segoe UI Symbol"/>
                <a:cs typeface="Segoe UI Symbol"/>
              </a:rPr>
              <a:t>3</a:t>
            </a:r>
            <a:endParaRPr sz="2300">
              <a:latin typeface="Segoe UI Symbol"/>
              <a:cs typeface="Segoe UI 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00198" y="6142101"/>
            <a:ext cx="4156710" cy="1028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50" dirty="0">
                <a:solidFill>
                  <a:srgbClr val="E1E6E9"/>
                </a:solidFill>
                <a:latin typeface="Segoe UI Symbol"/>
                <a:cs typeface="Segoe UI Symbol"/>
              </a:rPr>
              <a:t>Out</a:t>
            </a:r>
            <a:r>
              <a:rPr sz="1900" spc="-6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900" spc="90" dirty="0">
                <a:solidFill>
                  <a:srgbClr val="E1E6E9"/>
                </a:solidFill>
                <a:latin typeface="Segoe UI Symbol"/>
                <a:cs typeface="Segoe UI Symbol"/>
              </a:rPr>
              <a:t>of</a:t>
            </a:r>
            <a:r>
              <a:rPr sz="1900" spc="-5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900" spc="80" dirty="0">
                <a:solidFill>
                  <a:srgbClr val="E1E6E9"/>
                </a:solidFill>
                <a:latin typeface="Segoe UI Symbol"/>
                <a:cs typeface="Segoe UI Symbol"/>
              </a:rPr>
              <a:t>Spec</a:t>
            </a:r>
            <a:r>
              <a:rPr sz="190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900" spc="125" dirty="0">
                <a:solidFill>
                  <a:srgbClr val="E1E6E9"/>
                </a:solidFill>
                <a:latin typeface="Segoe UI Symbol"/>
                <a:cs typeface="Segoe UI Symbol"/>
              </a:rPr>
              <a:t>Reviews</a:t>
            </a:r>
            <a:endParaRPr sz="1900">
              <a:latin typeface="Segoe UI Symbol"/>
              <a:cs typeface="Segoe UI Symbol"/>
            </a:endParaRPr>
          </a:p>
          <a:p>
            <a:pPr marL="12700" marR="5080">
              <a:lnSpc>
                <a:spcPct val="121400"/>
              </a:lnSpc>
              <a:spcBef>
                <a:spcPts val="1245"/>
              </a:spcBef>
            </a:pPr>
            <a:r>
              <a:rPr sz="1500" spc="125" dirty="0">
                <a:solidFill>
                  <a:srgbClr val="E1E6E9"/>
                </a:solidFill>
                <a:latin typeface="Segoe UI Symbol"/>
                <a:cs typeface="Segoe UI Symbol"/>
              </a:rPr>
              <a:t>Tests</a:t>
            </a:r>
            <a:r>
              <a:rPr sz="1500" spc="-8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E1E6E9"/>
                </a:solidFill>
                <a:latin typeface="Segoe UI Symbol"/>
                <a:cs typeface="Segoe UI Symbol"/>
              </a:rPr>
              <a:t>indépendants</a:t>
            </a:r>
            <a:r>
              <a:rPr sz="1500" spc="-13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60" dirty="0">
                <a:solidFill>
                  <a:srgbClr val="E1E6E9"/>
                </a:solidFill>
                <a:latin typeface="Segoe UI Symbol"/>
                <a:cs typeface="Segoe UI Symbol"/>
              </a:rPr>
              <a:t>et</a:t>
            </a:r>
            <a:r>
              <a:rPr sz="1500" spc="-5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105" dirty="0">
                <a:solidFill>
                  <a:srgbClr val="E1E6E9"/>
                </a:solidFill>
                <a:latin typeface="Segoe UI Symbol"/>
                <a:cs typeface="Segoe UI Symbol"/>
              </a:rPr>
              <a:t>analyses</a:t>
            </a:r>
            <a:r>
              <a:rPr sz="1500" spc="-8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80" dirty="0">
                <a:solidFill>
                  <a:srgbClr val="E1E6E9"/>
                </a:solidFill>
                <a:latin typeface="Segoe UI Symbol"/>
                <a:cs typeface="Segoe UI Symbol"/>
              </a:rPr>
              <a:t>détaillées</a:t>
            </a:r>
            <a:r>
              <a:rPr sz="1500" spc="-8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-25" dirty="0">
                <a:solidFill>
                  <a:srgbClr val="E1E6E9"/>
                </a:solidFill>
                <a:latin typeface="Segoe UI Symbol"/>
                <a:cs typeface="Segoe UI Symbol"/>
              </a:rPr>
              <a:t>de </a:t>
            </a:r>
            <a:r>
              <a:rPr sz="1500" spc="100" dirty="0">
                <a:solidFill>
                  <a:srgbClr val="E1E6E9"/>
                </a:solidFill>
                <a:latin typeface="Segoe UI Symbol"/>
                <a:cs typeface="Segoe UI Symbol"/>
              </a:rPr>
              <a:t>véhicules</a:t>
            </a:r>
            <a:r>
              <a:rPr sz="1500" spc="-114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80" dirty="0">
                <a:solidFill>
                  <a:srgbClr val="E1E6E9"/>
                </a:solidFill>
                <a:latin typeface="Segoe UI Symbol"/>
                <a:cs typeface="Segoe UI Symbol"/>
              </a:rPr>
              <a:t>à</a:t>
            </a:r>
            <a:r>
              <a:rPr sz="1500" spc="-5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80" dirty="0">
                <a:solidFill>
                  <a:srgbClr val="E1E6E9"/>
                </a:solidFill>
                <a:latin typeface="Segoe UI Symbol"/>
                <a:cs typeface="Segoe UI Symbol"/>
              </a:rPr>
              <a:t>capacités</a:t>
            </a:r>
            <a:r>
              <a:rPr sz="1500" spc="-8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95" dirty="0">
                <a:solidFill>
                  <a:srgbClr val="E1E6E9"/>
                </a:solidFill>
                <a:latin typeface="Segoe UI Symbol"/>
                <a:cs typeface="Segoe UI Symbol"/>
              </a:rPr>
              <a:t>autonomes</a:t>
            </a:r>
            <a:r>
              <a:rPr sz="1500" spc="-114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70" dirty="0">
                <a:solidFill>
                  <a:srgbClr val="E1E6E9"/>
                </a:solidFill>
                <a:latin typeface="Segoe UI Symbol"/>
                <a:cs typeface="Segoe UI Symbol"/>
              </a:rPr>
              <a:t>avancées.</a:t>
            </a:r>
            <a:endParaRPr sz="1500">
              <a:latin typeface="Segoe UI Symbol"/>
              <a:cs typeface="Segoe UI 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33652" y="1621917"/>
            <a:ext cx="919543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30645" algn="l"/>
              </a:tabLst>
            </a:pPr>
            <a:r>
              <a:rPr sz="1900" spc="1100" dirty="0">
                <a:latin typeface="Segoe UI Symbol"/>
                <a:cs typeface="Segoe UI Symbol"/>
              </a:rPr>
              <a:t>*</a:t>
            </a:r>
            <a:r>
              <a:rPr sz="1900" spc="-45" dirty="0">
                <a:latin typeface="Segoe UI Symbol"/>
                <a:cs typeface="Segoe UI Symbol"/>
              </a:rPr>
              <a:t> </a:t>
            </a:r>
            <a:r>
              <a:rPr sz="1900" spc="114" dirty="0">
                <a:solidFill>
                  <a:srgbClr val="F5EFEF"/>
                </a:solidFill>
                <a:latin typeface="Segoe UI Symbol"/>
                <a:cs typeface="Segoe UI Symbol"/>
              </a:rPr>
              <a:t>Chaînes</a:t>
            </a:r>
            <a:r>
              <a:rPr sz="1900" spc="-20" dirty="0">
                <a:solidFill>
                  <a:srgbClr val="F5EFEF"/>
                </a:solidFill>
                <a:latin typeface="Segoe UI Symbol"/>
                <a:cs typeface="Segoe UI Symbol"/>
              </a:rPr>
              <a:t> </a:t>
            </a:r>
            <a:r>
              <a:rPr sz="1900" spc="114" dirty="0">
                <a:solidFill>
                  <a:srgbClr val="F5EFEF"/>
                </a:solidFill>
                <a:latin typeface="Segoe UI Symbol"/>
                <a:cs typeface="Segoe UI Symbol"/>
              </a:rPr>
              <a:t>YouTube</a:t>
            </a:r>
            <a:r>
              <a:rPr sz="1900" spc="-45" dirty="0">
                <a:solidFill>
                  <a:srgbClr val="F5EFEF"/>
                </a:solidFill>
                <a:latin typeface="Segoe UI Symbol"/>
                <a:cs typeface="Segoe UI Symbol"/>
              </a:rPr>
              <a:t> </a:t>
            </a:r>
            <a:r>
              <a:rPr sz="1900" spc="105" dirty="0">
                <a:solidFill>
                  <a:srgbClr val="F5EFEF"/>
                </a:solidFill>
                <a:latin typeface="Segoe UI Symbol"/>
                <a:cs typeface="Segoe UI Symbol"/>
              </a:rPr>
              <a:t>recommandées</a:t>
            </a:r>
            <a:r>
              <a:rPr sz="1900" dirty="0">
                <a:solidFill>
                  <a:srgbClr val="F5EFEF"/>
                </a:solidFill>
                <a:latin typeface="Segoe UI Symbol"/>
                <a:cs typeface="Segoe UI Symbol"/>
              </a:rPr>
              <a:t>	</a:t>
            </a:r>
            <a:r>
              <a:rPr sz="1900" dirty="0">
                <a:latin typeface="Segoe UI Symbol"/>
                <a:cs typeface="Segoe UI Symbol"/>
              </a:rPr>
              <a:t>🎤</a:t>
            </a:r>
            <a:r>
              <a:rPr sz="1900" spc="-75" dirty="0">
                <a:latin typeface="Segoe UI Symbol"/>
                <a:cs typeface="Segoe UI Symbol"/>
              </a:rPr>
              <a:t> </a:t>
            </a:r>
            <a:r>
              <a:rPr sz="1900" spc="105" dirty="0">
                <a:solidFill>
                  <a:srgbClr val="F5EFEF"/>
                </a:solidFill>
                <a:latin typeface="Segoe UI Symbol"/>
                <a:cs typeface="Segoe UI Symbol"/>
              </a:rPr>
              <a:t>Conférences</a:t>
            </a:r>
            <a:r>
              <a:rPr sz="1900" spc="-45" dirty="0">
                <a:solidFill>
                  <a:srgbClr val="F5EFEF"/>
                </a:solidFill>
                <a:latin typeface="Segoe UI Symbol"/>
                <a:cs typeface="Segoe UI Symbol"/>
              </a:rPr>
              <a:t> </a:t>
            </a:r>
            <a:r>
              <a:rPr sz="1900" spc="95" dirty="0">
                <a:solidFill>
                  <a:srgbClr val="F5EFEF"/>
                </a:solidFill>
                <a:latin typeface="Segoe UI Symbol"/>
                <a:cs typeface="Segoe UI Symbol"/>
              </a:rPr>
              <a:t>à</a:t>
            </a:r>
            <a:r>
              <a:rPr sz="1900" spc="-80" dirty="0">
                <a:solidFill>
                  <a:srgbClr val="F5EFEF"/>
                </a:solidFill>
                <a:latin typeface="Segoe UI Symbol"/>
                <a:cs typeface="Segoe UI Symbol"/>
              </a:rPr>
              <a:t> </a:t>
            </a:r>
            <a:r>
              <a:rPr sz="1900" spc="125" dirty="0">
                <a:solidFill>
                  <a:srgbClr val="F5EFEF"/>
                </a:solidFill>
                <a:latin typeface="Segoe UI Symbol"/>
                <a:cs typeface="Segoe UI Symbol"/>
              </a:rPr>
              <a:t>suivre</a:t>
            </a:r>
            <a:endParaRPr sz="1900">
              <a:latin typeface="Segoe UI Symbol"/>
              <a:cs typeface="Segoe UI Symbo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558849" y="2127313"/>
            <a:ext cx="1012190" cy="4767580"/>
            <a:chOff x="7558849" y="2127313"/>
            <a:chExt cx="1012190" cy="4767580"/>
          </a:xfrm>
        </p:grpSpPr>
        <p:sp>
          <p:nvSpPr>
            <p:cNvPr id="24" name="object 24"/>
            <p:cNvSpPr/>
            <p:nvPr/>
          </p:nvSpPr>
          <p:spPr>
            <a:xfrm>
              <a:off x="7784592" y="2130551"/>
              <a:ext cx="786765" cy="4764405"/>
            </a:xfrm>
            <a:custGeom>
              <a:avLst/>
              <a:gdLst/>
              <a:ahLst/>
              <a:cxnLst/>
              <a:rect l="l" t="t" r="r" b="b"/>
              <a:pathLst>
                <a:path w="786765" h="4764405">
                  <a:moveTo>
                    <a:pt x="21336" y="4826"/>
                  </a:moveTo>
                  <a:lnTo>
                    <a:pt x="16510" y="0"/>
                  </a:lnTo>
                  <a:lnTo>
                    <a:pt x="4826" y="0"/>
                  </a:lnTo>
                  <a:lnTo>
                    <a:pt x="0" y="4826"/>
                  </a:lnTo>
                  <a:lnTo>
                    <a:pt x="0" y="10668"/>
                  </a:lnTo>
                  <a:lnTo>
                    <a:pt x="0" y="4759198"/>
                  </a:lnTo>
                  <a:lnTo>
                    <a:pt x="4826" y="4764024"/>
                  </a:lnTo>
                  <a:lnTo>
                    <a:pt x="16510" y="4764024"/>
                  </a:lnTo>
                  <a:lnTo>
                    <a:pt x="21336" y="4759198"/>
                  </a:lnTo>
                  <a:lnTo>
                    <a:pt x="21336" y="4826"/>
                  </a:lnTo>
                  <a:close/>
                </a:path>
                <a:path w="786765" h="4764405">
                  <a:moveTo>
                    <a:pt x="786384" y="215138"/>
                  </a:moveTo>
                  <a:lnTo>
                    <a:pt x="781558" y="210312"/>
                  </a:lnTo>
                  <a:lnTo>
                    <a:pt x="202946" y="210312"/>
                  </a:lnTo>
                  <a:lnTo>
                    <a:pt x="198120" y="215138"/>
                  </a:lnTo>
                  <a:lnTo>
                    <a:pt x="198120" y="220980"/>
                  </a:lnTo>
                  <a:lnTo>
                    <a:pt x="198120" y="226822"/>
                  </a:lnTo>
                  <a:lnTo>
                    <a:pt x="202946" y="231648"/>
                  </a:lnTo>
                  <a:lnTo>
                    <a:pt x="781558" y="231648"/>
                  </a:lnTo>
                  <a:lnTo>
                    <a:pt x="786384" y="226822"/>
                  </a:lnTo>
                  <a:lnTo>
                    <a:pt x="786384" y="215138"/>
                  </a:lnTo>
                  <a:close/>
                </a:path>
              </a:pathLst>
            </a:custGeom>
            <a:solidFill>
              <a:srgbClr val="184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563611" y="2132076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59" h="441960">
                  <a:moveTo>
                    <a:pt x="359410" y="0"/>
                  </a:moveTo>
                  <a:lnTo>
                    <a:pt x="82550" y="0"/>
                  </a:lnTo>
                  <a:lnTo>
                    <a:pt x="50417" y="6486"/>
                  </a:lnTo>
                  <a:lnTo>
                    <a:pt x="24177" y="24177"/>
                  </a:lnTo>
                  <a:lnTo>
                    <a:pt x="6486" y="50417"/>
                  </a:lnTo>
                  <a:lnTo>
                    <a:pt x="0" y="82550"/>
                  </a:lnTo>
                  <a:lnTo>
                    <a:pt x="0" y="359410"/>
                  </a:lnTo>
                  <a:lnTo>
                    <a:pt x="6486" y="391542"/>
                  </a:lnTo>
                  <a:lnTo>
                    <a:pt x="24177" y="417782"/>
                  </a:lnTo>
                  <a:lnTo>
                    <a:pt x="50417" y="435473"/>
                  </a:lnTo>
                  <a:lnTo>
                    <a:pt x="82550" y="441960"/>
                  </a:lnTo>
                  <a:lnTo>
                    <a:pt x="359410" y="441960"/>
                  </a:lnTo>
                  <a:lnTo>
                    <a:pt x="391542" y="435473"/>
                  </a:lnTo>
                  <a:lnTo>
                    <a:pt x="417782" y="417782"/>
                  </a:lnTo>
                  <a:lnTo>
                    <a:pt x="435473" y="391542"/>
                  </a:lnTo>
                  <a:lnTo>
                    <a:pt x="441960" y="359410"/>
                  </a:lnTo>
                  <a:lnTo>
                    <a:pt x="441960" y="82550"/>
                  </a:lnTo>
                  <a:lnTo>
                    <a:pt x="435473" y="50417"/>
                  </a:lnTo>
                  <a:lnTo>
                    <a:pt x="417782" y="24177"/>
                  </a:lnTo>
                  <a:lnTo>
                    <a:pt x="391542" y="6486"/>
                  </a:lnTo>
                  <a:lnTo>
                    <a:pt x="359410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63611" y="2132076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59" h="441960">
                  <a:moveTo>
                    <a:pt x="0" y="82550"/>
                  </a:moveTo>
                  <a:lnTo>
                    <a:pt x="6486" y="50417"/>
                  </a:lnTo>
                  <a:lnTo>
                    <a:pt x="24177" y="24177"/>
                  </a:lnTo>
                  <a:lnTo>
                    <a:pt x="50417" y="6486"/>
                  </a:lnTo>
                  <a:lnTo>
                    <a:pt x="82550" y="0"/>
                  </a:lnTo>
                  <a:lnTo>
                    <a:pt x="359410" y="0"/>
                  </a:lnTo>
                  <a:lnTo>
                    <a:pt x="391542" y="6486"/>
                  </a:lnTo>
                  <a:lnTo>
                    <a:pt x="417782" y="24177"/>
                  </a:lnTo>
                  <a:lnTo>
                    <a:pt x="435473" y="50417"/>
                  </a:lnTo>
                  <a:lnTo>
                    <a:pt x="441960" y="82550"/>
                  </a:lnTo>
                  <a:lnTo>
                    <a:pt x="441960" y="359410"/>
                  </a:lnTo>
                  <a:lnTo>
                    <a:pt x="435473" y="391542"/>
                  </a:lnTo>
                  <a:lnTo>
                    <a:pt x="417782" y="417782"/>
                  </a:lnTo>
                  <a:lnTo>
                    <a:pt x="391542" y="435473"/>
                  </a:lnTo>
                  <a:lnTo>
                    <a:pt x="359410" y="441960"/>
                  </a:lnTo>
                  <a:lnTo>
                    <a:pt x="82550" y="441960"/>
                  </a:lnTo>
                  <a:lnTo>
                    <a:pt x="50417" y="435473"/>
                  </a:lnTo>
                  <a:lnTo>
                    <a:pt x="24177" y="417782"/>
                  </a:lnTo>
                  <a:lnTo>
                    <a:pt x="6486" y="391542"/>
                  </a:lnTo>
                  <a:lnTo>
                    <a:pt x="0" y="359410"/>
                  </a:lnTo>
                  <a:lnTo>
                    <a:pt x="0" y="82550"/>
                  </a:lnTo>
                  <a:close/>
                </a:path>
              </a:pathLst>
            </a:custGeom>
            <a:ln w="9144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708138" y="2081530"/>
            <a:ext cx="15430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80" dirty="0">
                <a:solidFill>
                  <a:srgbClr val="E1E6E9"/>
                </a:solidFill>
                <a:latin typeface="Segoe UI Symbol"/>
                <a:cs typeface="Segoe UI Symbol"/>
              </a:rPr>
              <a:t>1</a:t>
            </a:r>
            <a:endParaRPr sz="2300">
              <a:latin typeface="Segoe UI Symbol"/>
              <a:cs typeface="Segoe UI 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756650" y="2173350"/>
            <a:ext cx="4545965" cy="1308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40" dirty="0">
                <a:solidFill>
                  <a:srgbClr val="E1E6E9"/>
                </a:solidFill>
                <a:latin typeface="Segoe UI Symbol"/>
                <a:cs typeface="Segoe UI Symbol"/>
              </a:rPr>
              <a:t>CES</a:t>
            </a:r>
            <a:r>
              <a:rPr sz="1900" spc="-5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900" spc="190" dirty="0">
                <a:solidFill>
                  <a:srgbClr val="E1E6E9"/>
                </a:solidFill>
                <a:latin typeface="Segoe UI Symbol"/>
                <a:cs typeface="Segoe UI Symbol"/>
              </a:rPr>
              <a:t>(Las</a:t>
            </a:r>
            <a:r>
              <a:rPr sz="1900" spc="-5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900" spc="90" dirty="0">
                <a:solidFill>
                  <a:srgbClr val="E1E6E9"/>
                </a:solidFill>
                <a:latin typeface="Segoe UI Symbol"/>
                <a:cs typeface="Segoe UI Symbol"/>
              </a:rPr>
              <a:t>Vegas)</a:t>
            </a:r>
            <a:endParaRPr sz="1900">
              <a:latin typeface="Segoe UI Symbol"/>
              <a:cs typeface="Segoe UI Symbol"/>
            </a:endParaRPr>
          </a:p>
          <a:p>
            <a:pPr marL="12700" marR="5080">
              <a:lnSpc>
                <a:spcPct val="122100"/>
              </a:lnSpc>
              <a:spcBef>
                <a:spcPts val="1230"/>
              </a:spcBef>
            </a:pPr>
            <a:r>
              <a:rPr sz="1500" spc="140" dirty="0">
                <a:solidFill>
                  <a:srgbClr val="E1E6E9"/>
                </a:solidFill>
                <a:latin typeface="Segoe UI Symbol"/>
                <a:cs typeface="Segoe UI Symbol"/>
              </a:rPr>
              <a:t>Le</a:t>
            </a:r>
            <a:r>
              <a:rPr sz="1500" spc="-6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105" dirty="0">
                <a:solidFill>
                  <a:srgbClr val="E1E6E9"/>
                </a:solidFill>
                <a:latin typeface="Segoe UI Symbol"/>
                <a:cs typeface="Segoe UI Symbol"/>
              </a:rPr>
              <a:t>salon</a:t>
            </a:r>
            <a:r>
              <a:rPr sz="1500" spc="-4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114" dirty="0">
                <a:solidFill>
                  <a:srgbClr val="E1E6E9"/>
                </a:solidFill>
                <a:latin typeface="Segoe UI Symbol"/>
                <a:cs typeface="Segoe UI Symbol"/>
              </a:rPr>
              <a:t>mondial</a:t>
            </a:r>
            <a:r>
              <a:rPr sz="1500" spc="-7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E1E6E9"/>
                </a:solidFill>
                <a:latin typeface="Segoe UI Symbol"/>
                <a:cs typeface="Segoe UI Symbol"/>
              </a:rPr>
              <a:t>de</a:t>
            </a:r>
            <a:r>
              <a:rPr sz="1500" spc="-6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E1E6E9"/>
                </a:solidFill>
                <a:latin typeface="Segoe UI Symbol"/>
                <a:cs typeface="Segoe UI Symbol"/>
              </a:rPr>
              <a:t>l'électronique</a:t>
            </a:r>
            <a:r>
              <a:rPr sz="1500" spc="-10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E1E6E9"/>
                </a:solidFill>
                <a:latin typeface="Segoe UI Symbol"/>
                <a:cs typeface="Segoe UI Symbol"/>
              </a:rPr>
              <a:t>grand</a:t>
            </a:r>
            <a:r>
              <a:rPr sz="1500" spc="-5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95" dirty="0">
                <a:solidFill>
                  <a:srgbClr val="E1E6E9"/>
                </a:solidFill>
                <a:latin typeface="Segoe UI Symbol"/>
                <a:cs typeface="Segoe UI Symbol"/>
              </a:rPr>
              <a:t>public, </a:t>
            </a:r>
            <a:r>
              <a:rPr sz="1500" spc="120" dirty="0">
                <a:solidFill>
                  <a:srgbClr val="E1E6E9"/>
                </a:solidFill>
                <a:latin typeface="Segoe UI Symbol"/>
                <a:cs typeface="Segoe UI Symbol"/>
              </a:rPr>
              <a:t>vitrine</a:t>
            </a:r>
            <a:r>
              <a:rPr sz="1500" spc="-12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65" dirty="0">
                <a:solidFill>
                  <a:srgbClr val="E1E6E9"/>
                </a:solidFill>
                <a:latin typeface="Segoe UI Symbol"/>
                <a:cs typeface="Segoe UI Symbol"/>
              </a:rPr>
              <a:t>des</a:t>
            </a:r>
            <a:r>
              <a:rPr sz="1500" spc="-3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95" dirty="0">
                <a:solidFill>
                  <a:srgbClr val="E1E6E9"/>
                </a:solidFill>
                <a:latin typeface="Segoe UI Symbol"/>
                <a:cs typeface="Segoe UI Symbol"/>
              </a:rPr>
              <a:t>dernières</a:t>
            </a:r>
            <a:r>
              <a:rPr sz="1500" spc="-11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110" dirty="0">
                <a:solidFill>
                  <a:srgbClr val="E1E6E9"/>
                </a:solidFill>
                <a:latin typeface="Segoe UI Symbol"/>
                <a:cs typeface="Segoe UI Symbol"/>
              </a:rPr>
              <a:t>innovations</a:t>
            </a:r>
            <a:r>
              <a:rPr sz="1500" spc="-11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85" dirty="0">
                <a:solidFill>
                  <a:srgbClr val="E1E6E9"/>
                </a:solidFill>
                <a:latin typeface="Segoe UI Symbol"/>
                <a:cs typeface="Segoe UI Symbol"/>
              </a:rPr>
              <a:t>en</a:t>
            </a:r>
            <a:r>
              <a:rPr sz="1500" spc="-5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E1E6E9"/>
                </a:solidFill>
                <a:latin typeface="Segoe UI Symbol"/>
                <a:cs typeface="Segoe UI Symbol"/>
              </a:rPr>
              <a:t>mobilité </a:t>
            </a:r>
            <a:r>
              <a:rPr sz="1500" spc="80" dirty="0">
                <a:solidFill>
                  <a:srgbClr val="E1E6E9"/>
                </a:solidFill>
                <a:latin typeface="Segoe UI Symbol"/>
                <a:cs typeface="Segoe UI Symbol"/>
              </a:rPr>
              <a:t>autonome.</a:t>
            </a:r>
            <a:endParaRPr sz="1500">
              <a:latin typeface="Segoe UI Symbol"/>
              <a:cs typeface="Segoe UI Symbo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558849" y="3818953"/>
            <a:ext cx="1012190" cy="451484"/>
            <a:chOff x="7558849" y="3818953"/>
            <a:chExt cx="1012190" cy="451484"/>
          </a:xfrm>
        </p:grpSpPr>
        <p:sp>
          <p:nvSpPr>
            <p:cNvPr id="30" name="object 30"/>
            <p:cNvSpPr/>
            <p:nvPr/>
          </p:nvSpPr>
          <p:spPr>
            <a:xfrm>
              <a:off x="7982711" y="4032503"/>
              <a:ext cx="588645" cy="21590"/>
            </a:xfrm>
            <a:custGeom>
              <a:avLst/>
              <a:gdLst/>
              <a:ahLst/>
              <a:cxnLst/>
              <a:rect l="l" t="t" r="r" b="b"/>
              <a:pathLst>
                <a:path w="588645" h="21589">
                  <a:moveTo>
                    <a:pt x="583438" y="0"/>
                  </a:moveTo>
                  <a:lnTo>
                    <a:pt x="4826" y="0"/>
                  </a:lnTo>
                  <a:lnTo>
                    <a:pt x="0" y="4825"/>
                  </a:lnTo>
                  <a:lnTo>
                    <a:pt x="0" y="10668"/>
                  </a:lnTo>
                  <a:lnTo>
                    <a:pt x="0" y="16510"/>
                  </a:lnTo>
                  <a:lnTo>
                    <a:pt x="4826" y="21336"/>
                  </a:lnTo>
                  <a:lnTo>
                    <a:pt x="583438" y="21336"/>
                  </a:lnTo>
                  <a:lnTo>
                    <a:pt x="588264" y="16510"/>
                  </a:lnTo>
                  <a:lnTo>
                    <a:pt x="588264" y="4825"/>
                  </a:lnTo>
                  <a:lnTo>
                    <a:pt x="583438" y="0"/>
                  </a:lnTo>
                  <a:close/>
                </a:path>
              </a:pathLst>
            </a:custGeom>
            <a:solidFill>
              <a:srgbClr val="184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63611" y="3823715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59" h="441960">
                  <a:moveTo>
                    <a:pt x="359410" y="0"/>
                  </a:moveTo>
                  <a:lnTo>
                    <a:pt x="82550" y="0"/>
                  </a:lnTo>
                  <a:lnTo>
                    <a:pt x="50417" y="6486"/>
                  </a:lnTo>
                  <a:lnTo>
                    <a:pt x="24177" y="24177"/>
                  </a:lnTo>
                  <a:lnTo>
                    <a:pt x="6486" y="50417"/>
                  </a:lnTo>
                  <a:lnTo>
                    <a:pt x="0" y="82550"/>
                  </a:lnTo>
                  <a:lnTo>
                    <a:pt x="0" y="359410"/>
                  </a:lnTo>
                  <a:lnTo>
                    <a:pt x="6486" y="391542"/>
                  </a:lnTo>
                  <a:lnTo>
                    <a:pt x="24177" y="417782"/>
                  </a:lnTo>
                  <a:lnTo>
                    <a:pt x="50417" y="435473"/>
                  </a:lnTo>
                  <a:lnTo>
                    <a:pt x="82550" y="441960"/>
                  </a:lnTo>
                  <a:lnTo>
                    <a:pt x="359410" y="441960"/>
                  </a:lnTo>
                  <a:lnTo>
                    <a:pt x="391542" y="435473"/>
                  </a:lnTo>
                  <a:lnTo>
                    <a:pt x="417782" y="417782"/>
                  </a:lnTo>
                  <a:lnTo>
                    <a:pt x="435473" y="391542"/>
                  </a:lnTo>
                  <a:lnTo>
                    <a:pt x="441960" y="359410"/>
                  </a:lnTo>
                  <a:lnTo>
                    <a:pt x="441960" y="82550"/>
                  </a:lnTo>
                  <a:lnTo>
                    <a:pt x="435473" y="50417"/>
                  </a:lnTo>
                  <a:lnTo>
                    <a:pt x="417782" y="24177"/>
                  </a:lnTo>
                  <a:lnTo>
                    <a:pt x="391542" y="6486"/>
                  </a:lnTo>
                  <a:lnTo>
                    <a:pt x="359410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563611" y="3823715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59" h="441960">
                  <a:moveTo>
                    <a:pt x="0" y="82550"/>
                  </a:moveTo>
                  <a:lnTo>
                    <a:pt x="6486" y="50417"/>
                  </a:lnTo>
                  <a:lnTo>
                    <a:pt x="24177" y="24177"/>
                  </a:lnTo>
                  <a:lnTo>
                    <a:pt x="50417" y="6486"/>
                  </a:lnTo>
                  <a:lnTo>
                    <a:pt x="82550" y="0"/>
                  </a:lnTo>
                  <a:lnTo>
                    <a:pt x="359410" y="0"/>
                  </a:lnTo>
                  <a:lnTo>
                    <a:pt x="391542" y="6486"/>
                  </a:lnTo>
                  <a:lnTo>
                    <a:pt x="417782" y="24177"/>
                  </a:lnTo>
                  <a:lnTo>
                    <a:pt x="435473" y="50417"/>
                  </a:lnTo>
                  <a:lnTo>
                    <a:pt x="441960" y="82550"/>
                  </a:lnTo>
                  <a:lnTo>
                    <a:pt x="441960" y="359410"/>
                  </a:lnTo>
                  <a:lnTo>
                    <a:pt x="435473" y="391542"/>
                  </a:lnTo>
                  <a:lnTo>
                    <a:pt x="417782" y="417782"/>
                  </a:lnTo>
                  <a:lnTo>
                    <a:pt x="391542" y="435473"/>
                  </a:lnTo>
                  <a:lnTo>
                    <a:pt x="359410" y="441960"/>
                  </a:lnTo>
                  <a:lnTo>
                    <a:pt x="82550" y="441960"/>
                  </a:lnTo>
                  <a:lnTo>
                    <a:pt x="50417" y="435473"/>
                  </a:lnTo>
                  <a:lnTo>
                    <a:pt x="24177" y="417782"/>
                  </a:lnTo>
                  <a:lnTo>
                    <a:pt x="6486" y="391542"/>
                  </a:lnTo>
                  <a:lnTo>
                    <a:pt x="0" y="359410"/>
                  </a:lnTo>
                  <a:lnTo>
                    <a:pt x="0" y="82550"/>
                  </a:lnTo>
                  <a:close/>
                </a:path>
              </a:pathLst>
            </a:custGeom>
            <a:ln w="9144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684134" y="3775075"/>
            <a:ext cx="20066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85" dirty="0">
                <a:solidFill>
                  <a:srgbClr val="E1E6E9"/>
                </a:solidFill>
                <a:latin typeface="Segoe UI Symbol"/>
                <a:cs typeface="Segoe UI Symbol"/>
              </a:rPr>
              <a:t>2</a:t>
            </a:r>
            <a:endParaRPr sz="2300">
              <a:latin typeface="Segoe UI Symbol"/>
              <a:cs typeface="Segoe UI 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756650" y="3866210"/>
            <a:ext cx="4570730" cy="1309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45" dirty="0">
                <a:solidFill>
                  <a:srgbClr val="E1E6E9"/>
                </a:solidFill>
                <a:latin typeface="Segoe UI Symbol"/>
                <a:cs typeface="Segoe UI Symbol"/>
              </a:rPr>
              <a:t>IAA</a:t>
            </a:r>
            <a:r>
              <a:rPr sz="1900" spc="-7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900" spc="120" dirty="0">
                <a:solidFill>
                  <a:srgbClr val="E1E6E9"/>
                </a:solidFill>
                <a:latin typeface="Segoe UI Symbol"/>
                <a:cs typeface="Segoe UI Symbol"/>
              </a:rPr>
              <a:t>Mobility</a:t>
            </a:r>
            <a:r>
              <a:rPr sz="1900" spc="-2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900" spc="155" dirty="0">
                <a:solidFill>
                  <a:srgbClr val="E1E6E9"/>
                </a:solidFill>
                <a:latin typeface="Segoe UI Symbol"/>
                <a:cs typeface="Segoe UI Symbol"/>
              </a:rPr>
              <a:t>(Munich)</a:t>
            </a:r>
            <a:endParaRPr sz="1900">
              <a:latin typeface="Segoe UI Symbol"/>
              <a:cs typeface="Segoe UI Symbol"/>
            </a:endParaRPr>
          </a:p>
          <a:p>
            <a:pPr marL="12700" marR="5080">
              <a:lnSpc>
                <a:spcPct val="122100"/>
              </a:lnSpc>
              <a:spcBef>
                <a:spcPts val="1235"/>
              </a:spcBef>
            </a:pPr>
            <a:r>
              <a:rPr sz="1500" spc="140" dirty="0">
                <a:solidFill>
                  <a:srgbClr val="E1E6E9"/>
                </a:solidFill>
                <a:latin typeface="Segoe UI Symbol"/>
                <a:cs typeface="Segoe UI Symbol"/>
              </a:rPr>
              <a:t>Le</a:t>
            </a:r>
            <a:r>
              <a:rPr sz="1500" spc="-5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105" dirty="0">
                <a:solidFill>
                  <a:srgbClr val="E1E6E9"/>
                </a:solidFill>
                <a:latin typeface="Segoe UI Symbol"/>
                <a:cs typeface="Segoe UI Symbol"/>
              </a:rPr>
              <a:t>salon</a:t>
            </a:r>
            <a:r>
              <a:rPr sz="1500" spc="-4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85" dirty="0">
                <a:solidFill>
                  <a:srgbClr val="E1E6E9"/>
                </a:solidFill>
                <a:latin typeface="Segoe UI Symbol"/>
                <a:cs typeface="Segoe UI Symbol"/>
              </a:rPr>
              <a:t>automobile</a:t>
            </a:r>
            <a:r>
              <a:rPr sz="1500" spc="-10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70" dirty="0">
                <a:solidFill>
                  <a:srgbClr val="E1E6E9"/>
                </a:solidFill>
                <a:latin typeface="Segoe UI Symbol"/>
                <a:cs typeface="Segoe UI Symbol"/>
              </a:rPr>
              <a:t>européen</a:t>
            </a:r>
            <a:r>
              <a:rPr sz="1500" spc="-9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E1E6E9"/>
                </a:solidFill>
                <a:latin typeface="Segoe UI Symbol"/>
                <a:cs typeface="Segoe UI Symbol"/>
              </a:rPr>
              <a:t>de</a:t>
            </a:r>
            <a:r>
              <a:rPr sz="1500" spc="-3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E1E6E9"/>
                </a:solidFill>
                <a:latin typeface="Segoe UI Symbol"/>
                <a:cs typeface="Segoe UI Symbol"/>
              </a:rPr>
              <a:t>référence,</a:t>
            </a:r>
            <a:r>
              <a:rPr sz="1500" spc="-7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60" dirty="0">
                <a:solidFill>
                  <a:srgbClr val="E1E6E9"/>
                </a:solidFill>
                <a:latin typeface="Segoe UI Symbol"/>
                <a:cs typeface="Segoe UI Symbol"/>
              </a:rPr>
              <a:t>avec </a:t>
            </a:r>
            <a:r>
              <a:rPr sz="1500" spc="125" dirty="0">
                <a:solidFill>
                  <a:srgbClr val="E1E6E9"/>
                </a:solidFill>
                <a:latin typeface="Segoe UI Symbol"/>
                <a:cs typeface="Segoe UI Symbol"/>
              </a:rPr>
              <a:t>un</a:t>
            </a:r>
            <a:r>
              <a:rPr sz="1500" spc="-5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E1E6E9"/>
                </a:solidFill>
                <a:latin typeface="Segoe UI Symbol"/>
                <a:cs typeface="Segoe UI Symbol"/>
              </a:rPr>
              <a:t>focus</a:t>
            </a:r>
            <a:r>
              <a:rPr sz="1500" spc="-5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105" dirty="0">
                <a:solidFill>
                  <a:srgbClr val="E1E6E9"/>
                </a:solidFill>
                <a:latin typeface="Segoe UI Symbol"/>
                <a:cs typeface="Segoe UI Symbol"/>
              </a:rPr>
              <a:t>croissant</a:t>
            </a:r>
            <a:r>
              <a:rPr sz="1500" spc="-7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130" dirty="0">
                <a:solidFill>
                  <a:srgbClr val="E1E6E9"/>
                </a:solidFill>
                <a:latin typeface="Segoe UI Symbol"/>
                <a:cs typeface="Segoe UI Symbol"/>
              </a:rPr>
              <a:t>sur</a:t>
            </a:r>
            <a:r>
              <a:rPr sz="1500" spc="-5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105" dirty="0">
                <a:solidFill>
                  <a:srgbClr val="E1E6E9"/>
                </a:solidFill>
                <a:latin typeface="Segoe UI Symbol"/>
                <a:cs typeface="Segoe UI Symbol"/>
              </a:rPr>
              <a:t>l'autonomie</a:t>
            </a:r>
            <a:r>
              <a:rPr sz="1500" spc="-14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35" dirty="0">
                <a:solidFill>
                  <a:srgbClr val="E1E6E9"/>
                </a:solidFill>
                <a:latin typeface="Segoe UI Symbol"/>
                <a:cs typeface="Segoe UI Symbol"/>
              </a:rPr>
              <a:t>et </a:t>
            </a:r>
            <a:r>
              <a:rPr sz="1500" spc="90" dirty="0">
                <a:solidFill>
                  <a:srgbClr val="E1E6E9"/>
                </a:solidFill>
                <a:latin typeface="Segoe UI Symbol"/>
                <a:cs typeface="Segoe UI Symbol"/>
              </a:rPr>
              <a:t>l'électrification.</a:t>
            </a:r>
            <a:endParaRPr sz="1500">
              <a:latin typeface="Segoe UI Symbol"/>
              <a:cs typeface="Segoe UI Symbo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559040" y="5510784"/>
            <a:ext cx="1012190" cy="454659"/>
            <a:chOff x="7559040" y="5510784"/>
            <a:chExt cx="1012190" cy="454659"/>
          </a:xfrm>
        </p:grpSpPr>
        <p:sp>
          <p:nvSpPr>
            <p:cNvPr id="36" name="object 36"/>
            <p:cNvSpPr/>
            <p:nvPr/>
          </p:nvSpPr>
          <p:spPr>
            <a:xfrm>
              <a:off x="7982712" y="5724144"/>
              <a:ext cx="588645" cy="24765"/>
            </a:xfrm>
            <a:custGeom>
              <a:avLst/>
              <a:gdLst/>
              <a:ahLst/>
              <a:cxnLst/>
              <a:rect l="l" t="t" r="r" b="b"/>
              <a:pathLst>
                <a:path w="588645" h="24764">
                  <a:moveTo>
                    <a:pt x="582803" y="0"/>
                  </a:moveTo>
                  <a:lnTo>
                    <a:pt x="5461" y="0"/>
                  </a:lnTo>
                  <a:lnTo>
                    <a:pt x="0" y="5460"/>
                  </a:lnTo>
                  <a:lnTo>
                    <a:pt x="0" y="12191"/>
                  </a:lnTo>
                  <a:lnTo>
                    <a:pt x="0" y="18922"/>
                  </a:lnTo>
                  <a:lnTo>
                    <a:pt x="5461" y="24383"/>
                  </a:lnTo>
                  <a:lnTo>
                    <a:pt x="582803" y="24383"/>
                  </a:lnTo>
                  <a:lnTo>
                    <a:pt x="588264" y="18922"/>
                  </a:lnTo>
                  <a:lnTo>
                    <a:pt x="588264" y="5460"/>
                  </a:lnTo>
                  <a:lnTo>
                    <a:pt x="582803" y="0"/>
                  </a:lnTo>
                  <a:close/>
                </a:path>
              </a:pathLst>
            </a:custGeom>
            <a:solidFill>
              <a:srgbClr val="184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563612" y="5515356"/>
              <a:ext cx="441959" cy="445134"/>
            </a:xfrm>
            <a:custGeom>
              <a:avLst/>
              <a:gdLst/>
              <a:ahLst/>
              <a:cxnLst/>
              <a:rect l="l" t="t" r="r" b="b"/>
              <a:pathLst>
                <a:path w="441959" h="445135">
                  <a:moveTo>
                    <a:pt x="359410" y="0"/>
                  </a:moveTo>
                  <a:lnTo>
                    <a:pt x="82550" y="0"/>
                  </a:lnTo>
                  <a:lnTo>
                    <a:pt x="50417" y="6486"/>
                  </a:lnTo>
                  <a:lnTo>
                    <a:pt x="24177" y="24177"/>
                  </a:lnTo>
                  <a:lnTo>
                    <a:pt x="6486" y="50417"/>
                  </a:lnTo>
                  <a:lnTo>
                    <a:pt x="0" y="82550"/>
                  </a:lnTo>
                  <a:lnTo>
                    <a:pt x="0" y="362458"/>
                  </a:lnTo>
                  <a:lnTo>
                    <a:pt x="6486" y="394590"/>
                  </a:lnTo>
                  <a:lnTo>
                    <a:pt x="24177" y="420830"/>
                  </a:lnTo>
                  <a:lnTo>
                    <a:pt x="50417" y="438521"/>
                  </a:lnTo>
                  <a:lnTo>
                    <a:pt x="82550" y="445008"/>
                  </a:lnTo>
                  <a:lnTo>
                    <a:pt x="359410" y="445008"/>
                  </a:lnTo>
                  <a:lnTo>
                    <a:pt x="391542" y="438521"/>
                  </a:lnTo>
                  <a:lnTo>
                    <a:pt x="417782" y="420830"/>
                  </a:lnTo>
                  <a:lnTo>
                    <a:pt x="435473" y="394590"/>
                  </a:lnTo>
                  <a:lnTo>
                    <a:pt x="441960" y="362458"/>
                  </a:lnTo>
                  <a:lnTo>
                    <a:pt x="441960" y="82550"/>
                  </a:lnTo>
                  <a:lnTo>
                    <a:pt x="435473" y="50417"/>
                  </a:lnTo>
                  <a:lnTo>
                    <a:pt x="417782" y="24177"/>
                  </a:lnTo>
                  <a:lnTo>
                    <a:pt x="391542" y="6486"/>
                  </a:lnTo>
                  <a:lnTo>
                    <a:pt x="359410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563612" y="5515356"/>
              <a:ext cx="441959" cy="445134"/>
            </a:xfrm>
            <a:custGeom>
              <a:avLst/>
              <a:gdLst/>
              <a:ahLst/>
              <a:cxnLst/>
              <a:rect l="l" t="t" r="r" b="b"/>
              <a:pathLst>
                <a:path w="441959" h="445135">
                  <a:moveTo>
                    <a:pt x="0" y="82550"/>
                  </a:moveTo>
                  <a:lnTo>
                    <a:pt x="6486" y="50417"/>
                  </a:lnTo>
                  <a:lnTo>
                    <a:pt x="24177" y="24177"/>
                  </a:lnTo>
                  <a:lnTo>
                    <a:pt x="50417" y="6486"/>
                  </a:lnTo>
                  <a:lnTo>
                    <a:pt x="82550" y="0"/>
                  </a:lnTo>
                  <a:lnTo>
                    <a:pt x="359410" y="0"/>
                  </a:lnTo>
                  <a:lnTo>
                    <a:pt x="391542" y="6486"/>
                  </a:lnTo>
                  <a:lnTo>
                    <a:pt x="417782" y="24177"/>
                  </a:lnTo>
                  <a:lnTo>
                    <a:pt x="435473" y="50417"/>
                  </a:lnTo>
                  <a:lnTo>
                    <a:pt x="441960" y="82550"/>
                  </a:lnTo>
                  <a:lnTo>
                    <a:pt x="441960" y="362458"/>
                  </a:lnTo>
                  <a:lnTo>
                    <a:pt x="435473" y="394590"/>
                  </a:lnTo>
                  <a:lnTo>
                    <a:pt x="417782" y="420830"/>
                  </a:lnTo>
                  <a:lnTo>
                    <a:pt x="391542" y="438521"/>
                  </a:lnTo>
                  <a:lnTo>
                    <a:pt x="359410" y="445008"/>
                  </a:lnTo>
                  <a:lnTo>
                    <a:pt x="82550" y="445008"/>
                  </a:lnTo>
                  <a:lnTo>
                    <a:pt x="50417" y="438521"/>
                  </a:lnTo>
                  <a:lnTo>
                    <a:pt x="24177" y="420830"/>
                  </a:lnTo>
                  <a:lnTo>
                    <a:pt x="6486" y="394590"/>
                  </a:lnTo>
                  <a:lnTo>
                    <a:pt x="0" y="362458"/>
                  </a:lnTo>
                  <a:lnTo>
                    <a:pt x="0" y="82550"/>
                  </a:lnTo>
                  <a:close/>
                </a:path>
              </a:pathLst>
            </a:custGeom>
            <a:ln w="9144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689850" y="5468492"/>
            <a:ext cx="18986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50" dirty="0">
                <a:solidFill>
                  <a:srgbClr val="E1E6E9"/>
                </a:solidFill>
                <a:latin typeface="Segoe UI Symbol"/>
                <a:cs typeface="Segoe UI Symbol"/>
              </a:rPr>
              <a:t>3</a:t>
            </a:r>
            <a:endParaRPr sz="2300">
              <a:latin typeface="Segoe UI Symbol"/>
              <a:cs typeface="Segoe UI 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756650" y="5559628"/>
            <a:ext cx="4670425" cy="1309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40" dirty="0">
                <a:solidFill>
                  <a:srgbClr val="E1E6E9"/>
                </a:solidFill>
                <a:latin typeface="Segoe UI Symbol"/>
                <a:cs typeface="Segoe UI Symbol"/>
              </a:rPr>
              <a:t>NeurIPS</a:t>
            </a:r>
            <a:r>
              <a:rPr sz="1900" spc="-5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900" spc="70" dirty="0">
                <a:solidFill>
                  <a:srgbClr val="E1E6E9"/>
                </a:solidFill>
                <a:latin typeface="Segoe UI Symbol"/>
                <a:cs typeface="Segoe UI Symbol"/>
              </a:rPr>
              <a:t>/</a:t>
            </a:r>
            <a:r>
              <a:rPr sz="190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900" spc="175" dirty="0">
                <a:solidFill>
                  <a:srgbClr val="E1E6E9"/>
                </a:solidFill>
                <a:latin typeface="Segoe UI Symbol"/>
                <a:cs typeface="Segoe UI Symbol"/>
              </a:rPr>
              <a:t>ICML</a:t>
            </a:r>
            <a:endParaRPr sz="1900">
              <a:latin typeface="Segoe UI Symbol"/>
              <a:cs typeface="Segoe UI Symbol"/>
            </a:endParaRPr>
          </a:p>
          <a:p>
            <a:pPr marL="12700" marR="5080">
              <a:lnSpc>
                <a:spcPct val="122100"/>
              </a:lnSpc>
              <a:spcBef>
                <a:spcPts val="1235"/>
              </a:spcBef>
            </a:pPr>
            <a:r>
              <a:rPr sz="1500" spc="130" dirty="0">
                <a:solidFill>
                  <a:srgbClr val="E1E6E9"/>
                </a:solidFill>
                <a:latin typeface="Segoe UI Symbol"/>
                <a:cs typeface="Segoe UI Symbol"/>
              </a:rPr>
              <a:t>Les</a:t>
            </a:r>
            <a:r>
              <a:rPr sz="1500" spc="-5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80" dirty="0">
                <a:solidFill>
                  <a:srgbClr val="E1E6E9"/>
                </a:solidFill>
                <a:latin typeface="Segoe UI Symbol"/>
                <a:cs typeface="Segoe UI Symbol"/>
              </a:rPr>
              <a:t>grandes</a:t>
            </a:r>
            <a:r>
              <a:rPr sz="150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85" dirty="0">
                <a:solidFill>
                  <a:srgbClr val="E1E6E9"/>
                </a:solidFill>
                <a:latin typeface="Segoe UI Symbol"/>
                <a:cs typeface="Segoe UI Symbol"/>
              </a:rPr>
              <a:t>conférences</a:t>
            </a:r>
            <a:r>
              <a:rPr sz="1500" spc="-5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80" dirty="0">
                <a:solidFill>
                  <a:srgbClr val="E1E6E9"/>
                </a:solidFill>
                <a:latin typeface="Segoe UI Symbol"/>
                <a:cs typeface="Segoe UI Symbol"/>
              </a:rPr>
              <a:t>académiques</a:t>
            </a:r>
            <a:r>
              <a:rPr sz="1500" spc="-10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130" dirty="0">
                <a:solidFill>
                  <a:srgbClr val="E1E6E9"/>
                </a:solidFill>
                <a:latin typeface="Segoe UI Symbol"/>
                <a:cs typeface="Segoe UI Symbol"/>
              </a:rPr>
              <a:t>sur</a:t>
            </a:r>
            <a:r>
              <a:rPr sz="1500" spc="-5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150" dirty="0">
                <a:solidFill>
                  <a:srgbClr val="E1E6E9"/>
                </a:solidFill>
                <a:latin typeface="Segoe UI Symbol"/>
                <a:cs typeface="Segoe UI Symbol"/>
              </a:rPr>
              <a:t>l'IA,</a:t>
            </a:r>
            <a:r>
              <a:rPr sz="1500" spc="-8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40" dirty="0">
                <a:solidFill>
                  <a:srgbClr val="E1E6E9"/>
                </a:solidFill>
                <a:latin typeface="Segoe UI Symbol"/>
                <a:cs typeface="Segoe UI Symbol"/>
              </a:rPr>
              <a:t>où </a:t>
            </a:r>
            <a:r>
              <a:rPr sz="1500" spc="100" dirty="0">
                <a:solidFill>
                  <a:srgbClr val="E1E6E9"/>
                </a:solidFill>
                <a:latin typeface="Segoe UI Symbol"/>
                <a:cs typeface="Segoe UI Symbol"/>
              </a:rPr>
              <a:t>sont</a:t>
            </a:r>
            <a:r>
              <a:rPr sz="1500" spc="-4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80" dirty="0">
                <a:solidFill>
                  <a:srgbClr val="E1E6E9"/>
                </a:solidFill>
                <a:latin typeface="Segoe UI Symbol"/>
                <a:cs typeface="Segoe UI Symbol"/>
              </a:rPr>
              <a:t>présentées</a:t>
            </a:r>
            <a:r>
              <a:rPr sz="1500" spc="-12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E1E6E9"/>
                </a:solidFill>
                <a:latin typeface="Segoe UI Symbol"/>
                <a:cs typeface="Segoe UI Symbol"/>
              </a:rPr>
              <a:t>les</a:t>
            </a:r>
            <a:r>
              <a:rPr sz="1500" spc="-4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80" dirty="0">
                <a:solidFill>
                  <a:srgbClr val="E1E6E9"/>
                </a:solidFill>
                <a:latin typeface="Segoe UI Symbol"/>
                <a:cs typeface="Segoe UI Symbol"/>
              </a:rPr>
              <a:t>avancées</a:t>
            </a:r>
            <a:r>
              <a:rPr sz="1500" spc="-7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E1E6E9"/>
                </a:solidFill>
                <a:latin typeface="Segoe UI Symbol"/>
                <a:cs typeface="Segoe UI Symbol"/>
              </a:rPr>
              <a:t>de</a:t>
            </a:r>
            <a:r>
              <a:rPr sz="1500" spc="-3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95" dirty="0">
                <a:solidFill>
                  <a:srgbClr val="E1E6E9"/>
                </a:solidFill>
                <a:latin typeface="Segoe UI Symbol"/>
                <a:cs typeface="Segoe UI Symbol"/>
              </a:rPr>
              <a:t>recherche</a:t>
            </a:r>
            <a:r>
              <a:rPr sz="1500" spc="-11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55" dirty="0">
                <a:solidFill>
                  <a:srgbClr val="E1E6E9"/>
                </a:solidFill>
                <a:latin typeface="Segoe UI Symbol"/>
                <a:cs typeface="Segoe UI Symbol"/>
              </a:rPr>
              <a:t>qui </a:t>
            </a:r>
            <a:r>
              <a:rPr sz="1500" spc="110" dirty="0">
                <a:solidFill>
                  <a:srgbClr val="E1E6E9"/>
                </a:solidFill>
                <a:latin typeface="Segoe UI Symbol"/>
                <a:cs typeface="Segoe UI Symbol"/>
              </a:rPr>
              <a:t>alimentent</a:t>
            </a:r>
            <a:r>
              <a:rPr sz="1500" spc="-13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110" dirty="0">
                <a:solidFill>
                  <a:srgbClr val="E1E6E9"/>
                </a:solidFill>
                <a:latin typeface="Segoe UI Symbol"/>
                <a:cs typeface="Segoe UI Symbol"/>
              </a:rPr>
              <a:t>la</a:t>
            </a:r>
            <a:r>
              <a:rPr sz="1500" spc="-60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85" dirty="0">
                <a:solidFill>
                  <a:srgbClr val="E1E6E9"/>
                </a:solidFill>
                <a:latin typeface="Segoe UI Symbol"/>
                <a:cs typeface="Segoe UI Symbol"/>
              </a:rPr>
              <a:t>conduite</a:t>
            </a:r>
            <a:r>
              <a:rPr sz="1500" spc="-105" dirty="0">
                <a:solidFill>
                  <a:srgbClr val="E1E6E9"/>
                </a:solidFill>
                <a:latin typeface="Segoe UI Symbol"/>
                <a:cs typeface="Segoe UI Symbol"/>
              </a:rPr>
              <a:t> </a:t>
            </a:r>
            <a:r>
              <a:rPr sz="1500" spc="80" dirty="0">
                <a:solidFill>
                  <a:srgbClr val="E1E6E9"/>
                </a:solidFill>
                <a:latin typeface="Segoe UI Symbol"/>
                <a:cs typeface="Segoe UI Symbol"/>
              </a:rPr>
              <a:t>autonome.</a:t>
            </a:r>
            <a:endParaRPr sz="15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62126"/>
        </a:solidFill>
      </a:spPr>
      <a:bodyPr wrap="square" lIns="0" tIns="0" rIns="0" bIns="0" rtlCol="0"/>
      <a:lstStyle>
        <a:defPPr algn="l">
          <a:defRPr/>
        </a:defPPr>
      </a:lst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522</Words>
  <Application>Microsoft Office PowerPoint</Application>
  <PresentationFormat>Personnalisé</PresentationFormat>
  <Paragraphs>82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Calibri</vt:lpstr>
      <vt:lpstr>Cambria</vt:lpstr>
      <vt:lpstr>Segoe UI Symbol</vt:lpstr>
      <vt:lpstr>Office Theme</vt:lpstr>
      <vt:lpstr>Les Voitures Autonomes</vt:lpstr>
      <vt:lpstr>Qu'est-ce qu'une Voiture Autonome ?</vt:lpstr>
      <vt:lpstr>Rester Informé : Les Sources Essentielles</vt:lpstr>
      <vt:lpstr>Approfondir : Outils, Newsletters &amp; Podcasts</vt:lpstr>
      <vt:lpstr>Visualiser &amp; Écouter : YouTube et Conférences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poke 953</cp:lastModifiedBy>
  <cp:revision>1</cp:revision>
  <dcterms:created xsi:type="dcterms:W3CDTF">2026-05-01T12:01:39Z</dcterms:created>
  <dcterms:modified xsi:type="dcterms:W3CDTF">2026-05-01T12:03:13Z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2026-05-01T00:00:00Z</vt:filetime>
  </property>
  <property fmtid="{D5CDD505-2E9C-101B-9397-08002B2CF9AE}" pid="5" name="Producer">
    <vt:lpwstr>www.ilovepdf.com</vt:lpwstr>
  </property>
</Properties>
</file>